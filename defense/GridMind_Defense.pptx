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charts/chart1.xml" ContentType="application/vnd.openxmlformats-officedocument.drawingml.chart+xml"/>
  <Override PartName="/ppt/slides/charts/chart2.xml" ContentType="application/vnd.openxmlformats-officedocument.drawingml.chart+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a433703dfa74f24" /><Relationship Type="http://schemas.openxmlformats.org/officeDocument/2006/relationships/extended-properties" Target="/docProps/app.xml" Id="Reb634170d66342d5" /><Relationship Type="http://schemas.openxmlformats.org/officeDocument/2006/relationships/officeDocument" Target="/ppt/presentation.xml" Id="Rf3b84075ea0b41cc" /></Relationships>
</file>

<file path=ppt/presentation.xml><?xml version="1.0" encoding="utf-8"?>
<p:presentation xmlns:p="http://schemas.openxmlformats.org/presentationml/2006/main">
  <p:sldMasterIdLst>
    <p:sldMasterId xmlns:r="http://schemas.openxmlformats.org/officeDocument/2006/relationships" id="2147483648" r:id="R4e692cb8ad2b400b"/>
  </p:sldMasterIdLst>
  <p:notesMasterIdLst>
    <p:notesMasterId xmlns:r="http://schemas.openxmlformats.org/officeDocument/2006/relationships" r:id="Rb41840fee9b041c0"/>
  </p:notesMasterIdLst>
  <p:sldIdLst>
    <p:sldId xmlns:r="http://schemas.openxmlformats.org/officeDocument/2006/relationships" id="256" r:id="R3f04e6f240d347c1"/>
    <p:sldId xmlns:r="http://schemas.openxmlformats.org/officeDocument/2006/relationships" id="257" r:id="R787ac38588f1489e"/>
    <p:sldId xmlns:r="http://schemas.openxmlformats.org/officeDocument/2006/relationships" id="258" r:id="Rea6094c124d84c25"/>
    <p:sldId xmlns:r="http://schemas.openxmlformats.org/officeDocument/2006/relationships" id="259" r:id="R27a3c7adae5f47e3"/>
    <p:sldId xmlns:r="http://schemas.openxmlformats.org/officeDocument/2006/relationships" id="260" r:id="R801f65970ab0428d"/>
    <p:sldId xmlns:r="http://schemas.openxmlformats.org/officeDocument/2006/relationships" id="261" r:id="Ra8f6622aee314ff9"/>
    <p:sldId xmlns:r="http://schemas.openxmlformats.org/officeDocument/2006/relationships" id="262" r:id="Rf8f3778e0e024efa"/>
    <p:sldId xmlns:r="http://schemas.openxmlformats.org/officeDocument/2006/relationships" id="263" r:id="R4724cf94762b4bb9"/>
    <p:sldId xmlns:r="http://schemas.openxmlformats.org/officeDocument/2006/relationships" id="264" r:id="R6329f6501d16449d"/>
    <p:sldId xmlns:r="http://schemas.openxmlformats.org/officeDocument/2006/relationships" id="265" r:id="Rb4fd904a997c4fc0"/>
    <p:sldId xmlns:r="http://schemas.openxmlformats.org/officeDocument/2006/relationships" id="266" r:id="Rbc6aa0c6e4b94804"/>
    <p:sldId xmlns:r="http://schemas.openxmlformats.org/officeDocument/2006/relationships" id="267" r:id="Rcd47fec016e1405c"/>
    <p:sldId xmlns:r="http://schemas.openxmlformats.org/officeDocument/2006/relationships" id="268" r:id="R65ea9f8cf9324c9f"/>
    <p:sldId xmlns:r="http://schemas.openxmlformats.org/officeDocument/2006/relationships" id="269" r:id="R811d8bdedf304c21"/>
    <p:sldId xmlns:r="http://schemas.openxmlformats.org/officeDocument/2006/relationships" id="270" r:id="Rf0b4ca523b0043a6"/>
    <p:sldId xmlns:r="http://schemas.openxmlformats.org/officeDocument/2006/relationships" id="271" r:id="R0dd2429adcfe467e"/>
    <p:sldId xmlns:r="http://schemas.openxmlformats.org/officeDocument/2006/relationships" id="272" r:id="Rbc58e18b2fe24c2d"/>
    <p:sldId xmlns:r="http://schemas.openxmlformats.org/officeDocument/2006/relationships" id="273" r:id="Re6154b72b14749a6"/>
    <p:sldId xmlns:r="http://schemas.openxmlformats.org/officeDocument/2006/relationships" id="274" r:id="Re28c6617abee4340"/>
    <p:sldId xmlns:r="http://schemas.openxmlformats.org/officeDocument/2006/relationships" id="275" r:id="R855a10bdc49049b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39f6630bf2d47cb" /><Relationship Type="http://schemas.openxmlformats.org/officeDocument/2006/relationships/slideMaster" Target="/ppt/slideMasters/slideMaster1.xml" Id="R4e692cb8ad2b400b" /><Relationship Type="http://schemas.openxmlformats.org/officeDocument/2006/relationships/notesMaster" Target="/ppt/notesMasters/notesMaster1.xml" Id="Rb41840fee9b041c0" /><Relationship Type="http://schemas.openxmlformats.org/officeDocument/2006/relationships/presProps" Target="/ppt/presProps.xml" Id="R7cedac00899c4305" /><Relationship Type="http://schemas.openxmlformats.org/officeDocument/2006/relationships/tableStyles" Target="/ppt/tableStyles.xml" Id="R5280bf10aab54f40" /><Relationship Type="http://schemas.openxmlformats.org/officeDocument/2006/relationships/slide" Target="/ppt/slides/slide1.xml" Id="R3f04e6f240d347c1" /><Relationship Type="http://schemas.openxmlformats.org/officeDocument/2006/relationships/slide" Target="/ppt/slides/slide2.xml" Id="R787ac38588f1489e" /><Relationship Type="http://schemas.openxmlformats.org/officeDocument/2006/relationships/slide" Target="/ppt/slides/slide3.xml" Id="Rea6094c124d84c25" /><Relationship Type="http://schemas.openxmlformats.org/officeDocument/2006/relationships/slide" Target="/ppt/slides/slide4.xml" Id="R27a3c7adae5f47e3" /><Relationship Type="http://schemas.openxmlformats.org/officeDocument/2006/relationships/slide" Target="/ppt/slides/slide5.xml" Id="R801f65970ab0428d" /><Relationship Type="http://schemas.openxmlformats.org/officeDocument/2006/relationships/slide" Target="/ppt/slides/slide6.xml" Id="Ra8f6622aee314ff9" /><Relationship Type="http://schemas.openxmlformats.org/officeDocument/2006/relationships/slide" Target="/ppt/slides/slide7.xml" Id="Rf8f3778e0e024efa" /><Relationship Type="http://schemas.openxmlformats.org/officeDocument/2006/relationships/slide" Target="/ppt/slides/slide8.xml" Id="R4724cf94762b4bb9" /><Relationship Type="http://schemas.openxmlformats.org/officeDocument/2006/relationships/slide" Target="/ppt/slides/slide9.xml" Id="R6329f6501d16449d" /><Relationship Type="http://schemas.openxmlformats.org/officeDocument/2006/relationships/slide" Target="/ppt/slides/slide10.xml" Id="Rb4fd904a997c4fc0" /><Relationship Type="http://schemas.openxmlformats.org/officeDocument/2006/relationships/slide" Target="/ppt/slides/slide11.xml" Id="Rbc6aa0c6e4b94804" /><Relationship Type="http://schemas.openxmlformats.org/officeDocument/2006/relationships/slide" Target="/ppt/slides/slide12.xml" Id="Rcd47fec016e1405c" /><Relationship Type="http://schemas.openxmlformats.org/officeDocument/2006/relationships/slide" Target="/ppt/slides/slide13.xml" Id="R65ea9f8cf9324c9f" /><Relationship Type="http://schemas.openxmlformats.org/officeDocument/2006/relationships/slide" Target="/ppt/slides/slide14.xml" Id="R811d8bdedf304c21" /><Relationship Type="http://schemas.openxmlformats.org/officeDocument/2006/relationships/slide" Target="/ppt/slides/slide15.xml" Id="Rf0b4ca523b0043a6" /><Relationship Type="http://schemas.openxmlformats.org/officeDocument/2006/relationships/slide" Target="/ppt/slides/slide16.xml" Id="R0dd2429adcfe467e" /><Relationship Type="http://schemas.openxmlformats.org/officeDocument/2006/relationships/slide" Target="/ppt/slides/slide17.xml" Id="Rbc58e18b2fe24c2d" /><Relationship Type="http://schemas.openxmlformats.org/officeDocument/2006/relationships/slide" Target="/ppt/slides/slide18.xml" Id="Re6154b72b14749a6" /><Relationship Type="http://schemas.openxmlformats.org/officeDocument/2006/relationships/slide" Target="/ppt/slides/slide19.xml" Id="Re28c6617abee4340" /><Relationship Type="http://schemas.openxmlformats.org/officeDocument/2006/relationships/slide" Target="/ppt/slides/slide20.xml" Id="R855a10bdc49049b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6bd86834fde4a3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5c61b992b934b3a" /><Relationship Type="http://schemas.openxmlformats.org/officeDocument/2006/relationships/notesMaster" Target="/ppt/notesMasters/notesMaster1.xml" Id="R77bba313bca54983" /></Relationships>
</file>

<file path=ppt/notesSlides/_rels/notesSlide2.xml.rels>&#65279;<?xml version="1.0" encoding="utf-8"?><Relationships xmlns="http://schemas.openxmlformats.org/package/2006/relationships"><Relationship Type="http://schemas.openxmlformats.org/officeDocument/2006/relationships/slide" Target="/ppt/slides/slide2.xml" Id="Rd2536c1a17424b3f" /><Relationship Type="http://schemas.openxmlformats.org/officeDocument/2006/relationships/notesMaster" Target="/ppt/notesMasters/notesMaster1.xml" Id="Rf189d88a915048d2" /></Relationships>
</file>

<file path=ppt/notesSlides/_rels/notesSlide3.xml.rels>&#65279;<?xml version="1.0" encoding="utf-8"?><Relationships xmlns="http://schemas.openxmlformats.org/package/2006/relationships"><Relationship Type="http://schemas.openxmlformats.org/officeDocument/2006/relationships/slide" Target="/ppt/slides/slide3.xml" Id="R66c0d8529d6940f1" /><Relationship Type="http://schemas.openxmlformats.org/officeDocument/2006/relationships/notesMaster" Target="/ppt/notesMasters/notesMaster1.xml" Id="Rf6dfb75eb33d40d3" /></Relationships>
</file>

<file path=ppt/notesSlides/_rels/notesSlide4.xml.rels>&#65279;<?xml version="1.0" encoding="utf-8"?><Relationships xmlns="http://schemas.openxmlformats.org/package/2006/relationships"><Relationship Type="http://schemas.openxmlformats.org/officeDocument/2006/relationships/slide" Target="/ppt/slides/slide4.xml" Id="Rc8923f47631842ba" /><Relationship Type="http://schemas.openxmlformats.org/officeDocument/2006/relationships/notesMaster" Target="/ppt/notesMasters/notesMaster1.xml" Id="Rf49b6dcbaf9a43f8" /></Relationships>
</file>

<file path=ppt/notesSlides/_rels/notesSlide5.xml.rels>&#65279;<?xml version="1.0" encoding="utf-8"?><Relationships xmlns="http://schemas.openxmlformats.org/package/2006/relationships"><Relationship Type="http://schemas.openxmlformats.org/officeDocument/2006/relationships/slide" Target="/ppt/slides/slide5.xml" Id="Rd1fb0b9f291e4fae" /><Relationship Type="http://schemas.openxmlformats.org/officeDocument/2006/relationships/notesMaster" Target="/ppt/notesMasters/notesMaster1.xml" Id="R3e23f1d234d347c1" /></Relationships>
</file>

<file path=ppt/notesSlides/_rels/notesSlide6.xml.rels>&#65279;<?xml version="1.0" encoding="utf-8"?><Relationships xmlns="http://schemas.openxmlformats.org/package/2006/relationships"><Relationship Type="http://schemas.openxmlformats.org/officeDocument/2006/relationships/slide" Target="/ppt/slides/slide6.xml" Id="Rca850102320e4d59" /><Relationship Type="http://schemas.openxmlformats.org/officeDocument/2006/relationships/notesMaster" Target="/ppt/notesMasters/notesMaster1.xml" Id="R15de9744e3984ff3" /></Relationships>
</file>

<file path=ppt/notesSlides/_rels/notesSlide7.xml.rels>&#65279;<?xml version="1.0" encoding="utf-8"?><Relationships xmlns="http://schemas.openxmlformats.org/package/2006/relationships"><Relationship Type="http://schemas.openxmlformats.org/officeDocument/2006/relationships/slide" Target="/ppt/slides/slide7.xml" Id="R527b879f58994f88" /><Relationship Type="http://schemas.openxmlformats.org/officeDocument/2006/relationships/notesMaster" Target="/ppt/notesMasters/notesMaster1.xml" Id="Rfdc63213a75a4bc8" /></Relationships>
</file>

<file path=ppt/notesSlides/_rels/notesSlide8.xml.rels>&#65279;<?xml version="1.0" encoding="utf-8"?><Relationships xmlns="http://schemas.openxmlformats.org/package/2006/relationships"><Relationship Type="http://schemas.openxmlformats.org/officeDocument/2006/relationships/slide" Target="/ppt/slides/slide8.xml" Id="R409c375bc9d14805" /><Relationship Type="http://schemas.openxmlformats.org/officeDocument/2006/relationships/notesMaster" Target="/ppt/notesMasters/notesMaster1.xml" Id="R395196dcfaa245f0" /></Relationships>
</file>

<file path=ppt/notesSlides/_rels/notesSlide9.xml.rels>&#65279;<?xml version="1.0" encoding="utf-8"?><Relationships xmlns="http://schemas.openxmlformats.org/package/2006/relationships"><Relationship Type="http://schemas.openxmlformats.org/officeDocument/2006/relationships/slide" Target="/ppt/slides/slide9.xml" Id="R794cc7dbe3a04a60" /><Relationship Type="http://schemas.openxmlformats.org/officeDocument/2006/relationships/notesMaster" Target="/ppt/notesMasters/notesMaster1.xml" Id="Rd8162227cbd6461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0325c3d00a847a4" /><Relationship Type="http://schemas.openxmlformats.org/officeDocument/2006/relationships/notesMaster" Target="/ppt/notesMasters/notesMaster1.xml" Id="R3a972ab713e04fb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9bcfc374b474f54" /><Relationship Type="http://schemas.openxmlformats.org/officeDocument/2006/relationships/notesMaster" Target="/ppt/notesMasters/notesMaster1.xml" Id="Rf1f584d46d80454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5004491fb704bd8" /><Relationship Type="http://schemas.openxmlformats.org/officeDocument/2006/relationships/notesMaster" Target="/ppt/notesMasters/notesMaster1.xml" Id="R6a6a20309e38471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9e5bfd7c83444ea" /><Relationship Type="http://schemas.openxmlformats.org/officeDocument/2006/relationships/notesMaster" Target="/ppt/notesMasters/notesMaster1.xml" Id="Rb5c8c29209164f7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39966e697784446" /><Relationship Type="http://schemas.openxmlformats.org/officeDocument/2006/relationships/notesMaster" Target="/ppt/notesMasters/notesMaster1.xml" Id="R10cdd56a1e95461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b75f194971e445e" /><Relationship Type="http://schemas.openxmlformats.org/officeDocument/2006/relationships/notesMaster" Target="/ppt/notesMasters/notesMaster1.xml" Id="R7b8429bb01a141d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e1e915ff85e47f6" /><Relationship Type="http://schemas.openxmlformats.org/officeDocument/2006/relationships/notesMaster" Target="/ppt/notesMasters/notesMaster1.xml" Id="R45c7959c8a05404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f4d670a871343d8" /><Relationship Type="http://schemas.openxmlformats.org/officeDocument/2006/relationships/notesMaster" Target="/ppt/notesMasters/notesMaster1.xml" Id="Raded2389edb24ff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5223f2ea6684ada" /><Relationship Type="http://schemas.openxmlformats.org/officeDocument/2006/relationships/notesMaster" Target="/ppt/notesMasters/notesMaster1.xml" Id="R17f8dc388b51430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622af2ee38040f6" /><Relationship Type="http://schemas.openxmlformats.org/officeDocument/2006/relationships/notesMaster" Target="/ppt/notesMasters/notesMaster1.xml" Id="R6ae5e4032e1e4e0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00202695d4c400e" /><Relationship Type="http://schemas.openxmlformats.org/officeDocument/2006/relationships/notesMaster" Target="/ppt/notesMasters/notesMaster1.xml" Id="R42e482f7b587457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GridMind evaluates battery control, forecast value and settlement accounting. Our intended application is a Polish battery trader, while our completed measured experiments use six Irish households. I will keep these settings distinct. Sixty additional training runs and a forecast-to-control experiment show how design choices change outcomes. The evidence supports a reproducible evaluation, not a claim of validated Polish trading profit.</a:t>
            </a:r>
          </a:p>
          <a:p xmlns:a="http://schemas.openxmlformats.org/drawingml/2006/main">
            <a:r>
              <a:t/>
            </a:r>
          </a:p>
          <a:p xmlns:a="http://schemas.openxmlformats.org/drawingml/2006/main">
            <a:r>
              <a:t>Evidence: results/extension/control_results.json; results/ablations/results.json; results/forecast_control/results.json. Polish components: src/gridmind_research/polish_market.py and docs/POLISH_MARKET_STUDY.md.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intended beneficiary is a price-taking battery trader or aggregator in Poland. Its proposed objective is net arbitrage value under physical and risk limits. The existing Irish demonstrator instead minimizes community cost under assumed tariffs. We cannot report its savings as Polish trading profits. We have implemented a separate aggregate scheduling baseline and strict time and forecast validation for the Polish design, but the market dataset and forecast-conditioned policy remain untested. This distinction is necessary for an honest application claim.</a:t>
            </a:r>
          </a:p>
          <a:p xmlns:a="http://schemas.openxmlformats.org/drawingml/2006/main">
            <a:r>
              <a:t/>
            </a:r>
          </a:p>
          <a:p xmlns:a="http://schemas.openxmlformats.org/drawingml/2006/main">
            <a:r>
              <a:t>Evidence: results/extension/control_results.json; results/ablations/results.json; results/forecast_control/results.json. Polish components: src/gridmind_research/polish_market.py and docs/POLISH_MARKET_STUDY.md.</a:t>
            </a:r>
          </a:p>
          <a:p xmlns:a="http://schemas.openxmlformats.org/drawingml/2006/main">
            <a:r>
              <a:t>Market source: https://www.entsoe.eu/network_codes/cacm/implementation/sdac/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allocation pilot measures distribution of benefits. Battery experiments measure intertemporal control cost. The settlement comparison replays an identical control-derived transaction stream in two ledgers. A new experiment now replaces the forecast entering the same MPC and measures downstream cost. Thus this forecast-control connection is implemented, while the learned actors still use their existing observations. Savings across experiments cannot be added because their outside options differ.</a:t>
            </a:r>
          </a:p>
          <a:p xmlns:a="http://schemas.openxmlformats.org/drawingml/2006/main">
            <a:r>
              <a:t/>
            </a:r>
          </a:p>
          <a:p xmlns:a="http://schemas.openxmlformats.org/drawingml/2006/main">
            <a:r>
              <a:t>Evidence: results/extension/control_results.json; results/ablations/results.json; results/forecast_control/results.json. Polish components: src/gridmind_research/polish_market.py and docs/POLISH_MARKET_STUDY.md.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duration: 50 seconds.</a:t>
            </a:r>
          </a:p>
          <a:p xmlns:a="http://schemas.openxmlformats.org/drawingml/2006/main">
            <a:r>
              <a:t/>
            </a:r>
          </a:p>
          <a:p xmlns:a="http://schemas.openxmlformats.org/drawingml/2006/main">
            <a:r>
              <a:t>Consumption and photovoltaic production are measured StoreNet profiles. Battery capacities and prices are scenario assumptions. Each episode contains sixteen consecutive fifteen-minute intervals and a valid preceding measurement. Incomplete episodes are excluded without carrying battery state across gaps. Training uses January to April, checkpoint selection uses May, and evaluation uses early June. However, June had already been inspected in the first pilot. I therefore describe the result as exploratory chronological evaluation, rather than an untouched confirmatory test. The retained intervals are only about half of the possible period, so these totals are not complete electricity bills.</a:t>
            </a:r>
          </a:p>
          <a:p xmlns:a="http://schemas.openxmlformats.org/drawingml/2006/main">
            <a:r>
              <a:t/>
            </a:r>
          </a:p>
          <a:p xmlns:a="http://schemas.openxmlformats.org/drawingml/2006/main">
            <a:r>
              <a:t>Turkish rehearsal cue: Gerçek veri ile varsayılan batarya ve tarifeyi ayır. Eksik veri oranını gizleme.</a:t>
            </a:r>
          </a:p>
          <a:p xmlns:a="http://schemas.openxmlformats.org/drawingml/2006/main">
            <a:r>
              <a:t/>
            </a:r>
          </a:p>
          <a:p xmlns:a="http://schemas.openxmlformats.org/drawingml/2006/main">
            <a:r>
              <a:t>Evidence: gridmind/results/pilot_results.json and gridmind/results/extension/.</a:t>
            </a:r>
          </a:p>
          <a:p xmlns:a="http://schemas.openxmlformats.org/drawingml/2006/main">
            <a:r>
              <a:t>https://doi.org/10.1038/s41597-024-03454-2</a:t>
            </a:r>
          </a:p>
          <a:p xmlns:a="http://schemas.openxmlformats.org/drawingml/2006/main">
            <a:r>
              <a:t>https://doi.org/10.6084/m9.figshare.c.6829134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duration: 50 seconds.</a:t>
            </a:r>
          </a:p>
          <a:p xmlns:a="http://schemas.openxmlformats.org/drawingml/2006/main">
            <a:r>
              <a:t/>
            </a:r>
          </a:p>
          <a:p xmlns:a="http://schemas.openxmlformats.org/drawingml/2006/main">
            <a:r>
              <a:t>All controllers use the same physical battery model. A projection layer prevents power and state-of-charge violations and preserves the ability to reach the common terminal energy. The final restoration enters energy exchange and cost. This avoids rewarding a controller merely for emptying its battery at the end. Observations contain the preceding measured net load, rather than the current target or future demand. The model represents an unconstrained single bus. Energy conservation is verified, but voltage and thermal limits are not modelled.</a:t>
            </a:r>
          </a:p>
          <a:p xmlns:a="http://schemas.openxmlformats.org/drawingml/2006/main">
            <a:r>
              <a:t/>
            </a:r>
          </a:p>
          <a:p xmlns:a="http://schemas.openxmlformats.org/drawingml/2006/main">
            <a:r>
              <a:t>Turkish rehearsal cue: SOC, terminal koşul ve veri sızıntısının engellenmesini açıklayabilmelisin.</a:t>
            </a:r>
          </a:p>
          <a:p xmlns:a="http://schemas.openxmlformats.org/drawingml/2006/main">
            <a:r>
              <a:t/>
            </a:r>
          </a:p>
          <a:p xmlns:a="http://schemas.openxmlformats.org/drawingml/2006/main">
            <a:r>
              <a:t>Evidence: gridmind/results/pilot_results.json and gridmind/results/extension/.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table describes the original ten learned policies. Actor architecture, five requested actions, shared economic reward and training budget match, while critic information differs. The follow-up crosses discrete and continuous actions with sixty and three hundred updates, retaining five seeds per algorithm. Another matched comparison adds a signed-benefit dispersion penalty using fourteen inputs in both arms. MPC still differs in information and decision procedure, so its comparison with the learned policies remains a comparison of complete controllers.</a:t>
            </a:r>
          </a:p>
          <a:p xmlns:a="http://schemas.openxmlformats.org/drawingml/2006/main">
            <a:r>
              <a:t/>
            </a:r>
          </a:p>
          <a:p xmlns:a="http://schemas.openxmlformats.org/drawingml/2006/main">
            <a:r>
              <a:t>Evidence: results/extension/control_results.json; results/ablations/results.json; results/forecast_control/results.json. Polish components: src/gridmind_research/polish_market.py and docs/POLISH_MARKET_STUDY.md.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chart retains the original sixty-update comparison. Persistence MPC costs about 159.16 euros against 159.41 for idle sharing. IPPO averages 173.31 and MAPPO 182.82 euros. The new action and budget study narrows the explanation: all ten discrete policies at three hundred updates match idle behavior. That removes excess cycling cost but does not beat MPC. These results share previously inspected June data, so none is independent confirmation.</a:t>
            </a:r>
          </a:p>
          <a:p xmlns:a="http://schemas.openxmlformats.org/drawingml/2006/main">
            <a:r>
              <a:t/>
            </a:r>
          </a:p>
          <a:p xmlns:a="http://schemas.openxmlformats.org/drawingml/2006/main">
            <a:r>
              <a:t>Evidence: results/extension/control_results.json; results/ablations/results.json; results/forecast_control/results.json. Polish components: src/gridmind_research/polish_market.py and docs/POLISH_MARKET_STUDY.md.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duration: 45 seconds.</a:t>
            </a:r>
          </a:p>
          <a:p xmlns:a="http://schemas.openxmlformats.org/drawingml/2006/main">
            <a:r>
              <a:t/>
            </a:r>
          </a:p>
          <a:p xmlns:a="http://schemas.openxmlformats.org/drawingml/2006/main">
            <a:r>
              <a:t>In the separate allocation pilot, the Nash solution retains about 99.14 percent of welfare-LP savings and improves the reported Jain score relative to that LP. Yet proportional allocation has the higher Jain score in this comparison. A sophisticated objective therefore does not imply superiority under every fairness metric. Under homogeneous tariffs, total savings depend on matched energy volume, so policies matching the same volume have equal total savings. In the battery experiment, negative household benefits are preserved. Jain is left undefined when its chosen nonnegative-benefit interpretation fails.</a:t>
            </a:r>
          </a:p>
          <a:p xmlns:a="http://schemas.openxmlformats.org/drawingml/2006/main">
            <a:r>
              <a:t/>
            </a:r>
          </a:p>
          <a:p xmlns:a="http://schemas.openxmlformats.org/drawingml/2006/main">
            <a:r>
              <a:t>Turkish rehearsal cue: Nash adaleti her yönteme göre artırdı deme. Karşılaştırmanın bazını ve metriğini söyle.</a:t>
            </a:r>
          </a:p>
          <a:p xmlns:a="http://schemas.openxmlformats.org/drawingml/2006/main">
            <a:r>
              <a:t/>
            </a:r>
          </a:p>
          <a:p xmlns:a="http://schemas.openxmlformats.org/drawingml/2006/main">
            <a:r>
              <a:t>Evidence: gridmind/results/pilot_results.json and gridmind/results/extension/.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duration: 50 seconds.</a:t>
            </a:r>
          </a:p>
          <a:p xmlns:a="http://schemas.openxmlformats.org/drawingml/2006/main">
            <a:r>
              <a:t/>
            </a:r>
          </a:p>
          <a:p xmlns:a="http://schemas.openxmlformats.org/drawingml/2006/main">
            <a:r>
              <a:t>The first sixty-four positive trades from the fixed MAPPO seed eleven run were replayed in both systems. The same integer transaction inputs produced the same final balances and conserved all accounting credit. Checks include duplicate identifiers, unauthorized calls, insufficient funds, invalid trades, rollback and signature tampering. The Solidity contract was compiled and executed on a local EVM. This establishes accounting behavior in that environment. Both systems still trust an operator for metering. The experiment therefore does not demonstrate that blockchain is commercially necessary or that its consensus performs well on a public network.</a:t>
            </a:r>
          </a:p>
          <a:p xmlns:a="http://schemas.openxmlformats.org/drawingml/2006/main">
            <a:r>
              <a:t/>
            </a:r>
          </a:p>
          <a:p xmlns:a="http://schemas.openxmlformats.org/drawingml/2006/main">
            <a:r>
              <a:t>Turkish rehearsal cue: Akıllı sözleşme gerçekten çalıştı; fakat yerel zincir, gerçek para ve dağıtık konsensüs testi değil.</a:t>
            </a:r>
          </a:p>
          <a:p xmlns:a="http://schemas.openxmlformats.org/drawingml/2006/main">
            <a:r>
              <a:t/>
            </a:r>
          </a:p>
          <a:p xmlns:a="http://schemas.openxmlformats.org/drawingml/2006/main">
            <a:r>
              <a:t>Evidence: gridmind/results/pilot_results.json and gridmind/results/extension/.</a:t>
            </a:r>
          </a:p>
          <a:p xmlns:a="http://schemas.openxmlformats.org/drawingml/2006/main">
            <a:r>
              <a:t>https://docs.soliditylang.org/en/v0.8.30/</a:t>
            </a:r>
          </a:p>
          <a:p xmlns:a="http://schemas.openxmlformats.org/drawingml/2006/main">
            <a:r>
              <a:t>https://ethereum.org/developers/docs/smart-contracts/testing/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results/revision_20260928_tests.log and results/later_period_verification.json. The 37 research tests pass. The later-period audit covers 65 arms and 195390 household-episode rows. Maximum absolute energy residual is 1.3322676295501878e-15 kWh and terminal residual is zero. These are model consistency checks, not physical feeder or market validation. The same six households and documented prior access limit inference.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controlled experiments supply three useful findings. First, increasing the discrete-policy budget to three hundred updates reproduces idle cost in all ten runs. Second, continuous actions do not establish an advantage and the fixed fairness penalty does not consistently improve distribution. Third, Ridge forecasts fed into the same MPC reduce total cost to 158.8618 euros. First-step MAE is slightly worse, but horizon MAE is lower. Two households still lose relative to idle. Prediction accuracy, total saving and individual benefit must therefore be evaluated separately.</a:t>
            </a:r>
          </a:p>
          <a:p xmlns:a="http://schemas.openxmlformats.org/drawingml/2006/main">
            <a:r>
              <a:t/>
            </a:r>
          </a:p>
          <a:p xmlns:a="http://schemas.openxmlformats.org/drawingml/2006/main">
            <a:r>
              <a:t>Evidence: results/extension/control_results.json; results/ablations/results.json; results/forecast_control/results.json. Polish components: src/gridmind_research/polish_market.py and docs/POLISH_MARKET_STUDY.md.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July-December extension evaluates 501 episodes on 168 retained days. Ridge MPC costs 1939.3432 EUR, persistence 1946.6754 EUR and idle 1947.4997 EUR. All discrete 300-update policies reproduce idle again. The protocol discloses prior partial access, so this is exploratory temporal evidence. Polish market validation remains pending. Source: results/later_period/results.json and family_summary.csv. ChatGPT/Codex assisted preparation; see thesis Section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slide. These are the original sixty-update controller results. The sixty-run follow-up is in results/ablations, and the four forecast substitutions are in results/forecast_control. Seed standard deviation describes training variability, not uncertainty across independent households or dates.</a:t>
            </a:r>
          </a:p>
          <a:p xmlns:a="http://schemas.openxmlformats.org/drawingml/2006/main">
            <a:r>
              <a:t/>
            </a:r>
          </a:p>
          <a:p xmlns:a="http://schemas.openxmlformats.org/drawingml/2006/main">
            <a:r>
              <a:t>Evidence: results/extension/control_results.json; results/ablations/results.json; results/forecast_control/results.json. Polish components: src/gridmind_research/polish_market.py and docs/POLISH_MARKET_STUDY.md.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slide. The same MPC uses four different net-load forecasts on forty-four episodes. Costs are 159.1604 euros for persistence, 160.3051 for previous-day, 158.8618 for Ridge and 153.7614 for perfect information. The oracle reads future measurements and is not deployable. Ridge first-step MAE is 0.08424 kWh versus 0.08295 for persistence, while horizon MAE improves from 0.14948 to 0.12770. The original aggregate forecasting pilot uses a different target and sample.</a:t>
            </a:r>
          </a:p>
          <a:p xmlns:a="http://schemas.openxmlformats.org/drawingml/2006/main">
            <a:r>
              <a:t/>
            </a:r>
          </a:p>
          <a:p xmlns:a="http://schemas.openxmlformats.org/drawingml/2006/main">
            <a:r>
              <a:t>Evidence: results/extension/control_results.json; results/ablations/results.json; results/forecast_control/results.json. Polish components: src/gridmind_research/polish_market.py and docs/POLISH_MARKET_STUDY.md.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slide.</a:t>
            </a:r>
          </a:p>
          <a:p xmlns:a="http://schemas.openxmlformats.org/drawingml/2006/main">
            <a:r>
              <a:t/>
            </a:r>
          </a:p>
          <a:p xmlns:a="http://schemas.openxmlformats.org/drawingml/2006/main">
            <a:r>
              <a:t>These are assumptions for the battery experiment, common across households. They are not current Polish or Irish tariffs. The time labels remain in the source clock because an external time-zone join was not verified.</a:t>
            </a:r>
          </a:p>
          <a:p xmlns:a="http://schemas.openxmlformats.org/drawingml/2006/main">
            <a:r>
              <a:t/>
            </a:r>
          </a:p>
          <a:p xmlns:a="http://schemas.openxmlformats.org/drawingml/2006/main">
            <a:r>
              <a:t>Turkish rehearsal cue: Birimleri karıştırma: kW güç, kWh enerji, EUR/kWh birim fiyat.</a:t>
            </a:r>
          </a:p>
          <a:p xmlns:a="http://schemas.openxmlformats.org/drawingml/2006/main">
            <a:r>
              <a:t/>
            </a:r>
          </a:p>
          <a:p xmlns:a="http://schemas.openxmlformats.org/drawingml/2006/main">
            <a:r>
              <a:t>Evidence: gridmind/results/pilot_results.json and gridmind/results/extension/.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slide. CVaR95 uses fractional-tail weighting and forty-four episodes supply only 2.2 tail-episode equivalents. Under persistence MPC, H1 loses about 0.0257 euros. Under Ridge MPC, H1 loses 0.0578 and H5 loses 0.0138 euros. The fairness penalty was tested, but no participation guarantee or daily risk constraint has been established.</a:t>
            </a:r>
          </a:p>
          <a:p xmlns:a="http://schemas.openxmlformats.org/drawingml/2006/main">
            <a:r>
              <a:t/>
            </a:r>
          </a:p>
          <a:p xmlns:a="http://schemas.openxmlformats.org/drawingml/2006/main">
            <a:r>
              <a:t>Evidence: results/extension/control_results.json; results/ablations/results.json; results/forecast_control/results.json. Polish components: src/gridmind_research/polish_market.py and docs/POLISH_MARKET_STUDY.md.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slide. The offline viewer retains the original controller results. Current follow-up data are in results/ablations and results/forecast_control. verify_defense_evidence.py audits the archive and original records. verify_follow_up.py checks the sixty-run and forecast-coupling records. Both read saved evidence; neither starts training. The full commands and required dependencies are in docs/ABLATION_REPRODUCTION.md.</a:t>
            </a:r>
          </a:p>
          <a:p xmlns:a="http://schemas.openxmlformats.org/drawingml/2006/main">
            <a:r>
              <a:t/>
            </a:r>
          </a:p>
          <a:p xmlns:a="http://schemas.openxmlformats.org/drawingml/2006/main">
            <a:r>
              <a:t>Evidence: results/extension/control_results.json; results/ablations/results.json; results/forecast_control/results.json. Polish components: src/gridmind_research/polish_market.py and docs/POLISH_MARKET_STUDY.md.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slide.</a:t>
            </a:r>
          </a:p>
          <a:p xmlns:a="http://schemas.openxmlformats.org/drawingml/2006/main">
            <a:r>
              <a:t/>
            </a:r>
          </a:p>
          <a:p xmlns:a="http://schemas.openxmlformats.org/drawingml/2006/main">
            <a:r>
              <a:t>Dataset: https://doi.org/10.1038/s41597-024-03454-2</a:t>
            </a:r>
          </a:p>
          <a:p xmlns:a="http://schemas.openxmlformats.org/drawingml/2006/main">
            <a:r>
              <a:t>MAPPO: https://arxiv.org/abs/2103.01955</a:t>
            </a:r>
          </a:p>
          <a:p xmlns:a="http://schemas.openxmlformats.org/drawingml/2006/main">
            <a:r>
              <a:t>Jain: https://arxiv.org/abs/cs/9809099</a:t>
            </a:r>
          </a:p>
          <a:p xmlns:a="http://schemas.openxmlformats.org/drawingml/2006/main">
            <a:r>
              <a:t>CVaR: https://sites.math.washington.edu/~rtr/papers/rtr179-CVaR1.pdf</a:t>
            </a:r>
          </a:p>
          <a:p xmlns:a="http://schemas.openxmlformats.org/drawingml/2006/main">
            <a:r>
              <a:t>Blockchain: https://eprint.iacr.org/2017/375</a:t>
            </a:r>
          </a:p>
          <a:p xmlns:a="http://schemas.openxmlformats.org/drawingml/2006/main">
            <a:r>
              <a:t/>
            </a:r>
          </a:p>
          <a:p xmlns:a="http://schemas.openxmlformats.org/drawingml/2006/main">
            <a:r>
              <a:t>Turkish rehearsal cue: Kaynakları ezberlemek yerine hangi kararını desteklediklerini öğren.</a:t>
            </a:r>
          </a:p>
          <a:p xmlns:a="http://schemas.openxmlformats.org/drawingml/2006/main">
            <a:r>
              <a:t/>
            </a:r>
          </a:p>
          <a:p xmlns:a="http://schemas.openxmlformats.org/drawingml/2006/main">
            <a:r>
              <a:t>Evidence: gridmind/results/pilot_results.json and gridmind/results/extension/.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results/later_period/family_summary.csv. Measured StoreNet profiles, six households, fixed scenario tariffs and batteries. All costs refer only to retained four-hour episodes, not complete annual bills. Sixty policies and five baselines were evaluated; no retraining. Primary discrete IPPO minus persistence difference +0.824335 EUR. Prior partial access is documented in configs/later_period_protocol.json.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results/later_period/results.json, eligibility.csv and hour_coverage.csv. 10000 circular moving-block draws, seed 25092026. Blocks follow eligible days; gaps mean seven eligible days are not always seven calendar days. Ridge has lower daily cost on 60 days, ties on 54 and higher cost on 54. Its total advantage over persistence is 7.332171 EUR, approximately 0.38%. The primary discrete-IPPO contrast has seven-day interval [-0.0000797283,0.0111102746] EUR/day, including zero. Neither equivalence nor population-level superiority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2672b3ca61147d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8d1a7482266439c" /><Relationship Type="http://schemas.openxmlformats.org/officeDocument/2006/relationships/slideLayout" Target="/ppt/slideLayouts/slideLayout1.xml" Id="R0bac51dfcaca4d8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bac51dfcaca4d8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6e09b6249ab4028" /><Relationship Type="http://schemas.openxmlformats.org/officeDocument/2006/relationships/notesSlide" Target="/ppt/notesSlides/notesSlide1.xml" Id="Rb974d8d29eeb4d0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d0c29fe25c34a16" /><Relationship Type="http://schemas.openxmlformats.org/officeDocument/2006/relationships/notesSlide" Target="/ppt/notesSlides/notesSlide2.xml" Id="R7204a5a7ceaa4bd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052ab638f284317" /><Relationship Type="http://schemas.openxmlformats.org/officeDocument/2006/relationships/notesSlide" Target="/ppt/notesSlides/notesSlide3.xml" Id="R816e5243b2df4be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4490ad8b2b64edf" /><Relationship Type="http://schemas.openxmlformats.org/officeDocument/2006/relationships/notesSlide" Target="/ppt/notesSlides/notesSlide4.xml" Id="R8a378fe89a474bf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f051405f9804568" /><Relationship Type="http://schemas.openxmlformats.org/officeDocument/2006/relationships/notesSlide" Target="/ppt/notesSlides/notesSlide5.xml" Id="R8aac1d43e7c142e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8e1d097d627428a" /><Relationship Type="http://schemas.openxmlformats.org/officeDocument/2006/relationships/notesSlide" Target="/ppt/notesSlides/notesSlide6.xml" Id="Rc1976dab85c3454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6e1ffd716794205" /><Relationship Type="http://schemas.openxmlformats.org/officeDocument/2006/relationships/chart" Target="/ppt/slides/charts/chart1.xml" Id="R2e4d5510807d49ce" /><Relationship Type="http://schemas.openxmlformats.org/officeDocument/2006/relationships/notesSlide" Target="/ppt/notesSlides/notesSlide7.xml" Id="Rf5ff24adfa7d433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bd420c1334941b1" /><Relationship Type="http://schemas.openxmlformats.org/officeDocument/2006/relationships/notesSlide" Target="/ppt/notesSlides/notesSlide8.xml" Id="Rbdee71d46533457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ffc2cd4153844b7" /><Relationship Type="http://schemas.openxmlformats.org/officeDocument/2006/relationships/notesSlide" Target="/ppt/notesSlides/notesSlide9.xml" Id="R4c0b4f9cdfc1402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a4cd5d6321d48c9" /><Relationship Type="http://schemas.openxmlformats.org/officeDocument/2006/relationships/notesSlide" Target="/ppt/notesSlides/notesSlide10.xml" Id="R1ab8c6995ffe400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ed24801cca9493c" /><Relationship Type="http://schemas.openxmlformats.org/officeDocument/2006/relationships/notesSlide" Target="/ppt/notesSlides/notesSlide11.xml" Id="R09d527432fd44f7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e5c955f0170466b" /><Relationship Type="http://schemas.openxmlformats.org/officeDocument/2006/relationships/notesSlide" Target="/ppt/notesSlides/notesSlide12.xml" Id="R1e9e32154061415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37a39dc9ea04a8c" /><Relationship Type="http://schemas.openxmlformats.org/officeDocument/2006/relationships/notesSlide" Target="/ppt/notesSlides/notesSlide13.xml" Id="Ref24988111794b3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d09d711532c4164" /><Relationship Type="http://schemas.openxmlformats.org/officeDocument/2006/relationships/chart" Target="/ppt/slides/charts/chart2.xml" Id="R3643f0c8b8784409" /><Relationship Type="http://schemas.openxmlformats.org/officeDocument/2006/relationships/notesSlide" Target="/ppt/notesSlides/notesSlide14.xml" Id="R702a1cff09f8416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4f05f279ddc4cdd" /><Relationship Type="http://schemas.openxmlformats.org/officeDocument/2006/relationships/notesSlide" Target="/ppt/notesSlides/notesSlide15.xml" Id="Rb92300f334704a3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7fa76d44d534769" /><Relationship Type="http://schemas.openxmlformats.org/officeDocument/2006/relationships/notesSlide" Target="/ppt/notesSlides/notesSlide16.xml" Id="R560894aa84e74e6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c60eeb9b3b964b81" /><Relationship Type="http://schemas.openxmlformats.org/officeDocument/2006/relationships/notesSlide" Target="/ppt/notesSlides/notesSlide17.xml" Id="R64ce43d1d690407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e77d1bd293af47cf" /><Relationship Type="http://schemas.openxmlformats.org/officeDocument/2006/relationships/notesSlide" Target="/ppt/notesSlides/notesSlide18.xml" Id="R27c6f4aaaedb440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1b85cb179f604e5e" /><Relationship Type="http://schemas.openxmlformats.org/officeDocument/2006/relationships/notesSlide" Target="/ppt/notesSlides/notesSlide19.xml" Id="R04527752c5794a7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193c0823b7314acd" /><Relationship Type="http://schemas.openxmlformats.org/officeDocument/2006/relationships/notesSlide" Target="/ppt/notesSlides/notesSlide20.xml" Id="R293a3b819fe7489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c:lang val="en-US"/>
  <c:chart>
    <c:plotArea>
      <c:barChart>
        <c:barDir val="col"/>
        <c:grouping val="clustered"/>
        <c:varyColors val="0"/>
        <c:ser>
          <c:idx val="0"/>
          <c:order val="0"/>
          <c:tx>
            <c:v>Cost EUR</c:v>
          </c:tx>
          <c:spPr>
            <a:solidFill xmlns:a="http://schemas.openxmlformats.org/drawingml/2006/main">
              <a:srgbClr val="167D8D"/>
            </a:solidFill>
          </c:spPr>
          <c:cat>
            <c:strRef>
              <c:f>'Chart Data'!$A$2:$A$6</c:f>
              <c:strCache>
                <c:ptCount val="5"/>
                <c:pt idx="0">
                  <c:v>Idle</c:v>
                </c:pt>
                <c:pt idx="1">
                  <c:v>Rule</c:v>
                </c:pt>
                <c:pt idx="2">
                  <c:v>MPC</c:v>
                </c:pt>
                <c:pt idx="3">
                  <c:v>IPPO</c:v>
                </c:pt>
                <c:pt idx="4">
                  <c:v>MAPPO</c:v>
                </c:pt>
              </c:strCache>
            </c:strRef>
          </c:cat>
          <c:val>
            <c:numRef>
              <c:f>'Chart Data'!$B$2:$B$6</c:f>
              <c:numCache>
                <c:formatCode>0.00</c:formatCode>
                <c:ptCount val="5"/>
                <c:pt idx="0">
                  <c:v>159.408258</c:v>
                </c:pt>
                <c:pt idx="1">
                  <c:v>171.11066909</c:v>
                </c:pt>
                <c:pt idx="2">
                  <c:v>159.16042708</c:v>
                </c:pt>
                <c:pt idx="3">
                  <c:v>173.31057471</c:v>
                </c:pt>
                <c:pt idx="4">
                  <c:v>182.81969196</c:v>
                </c:pt>
              </c:numCache>
            </c:numRef>
          </c:val>
        </c:ser>
        <c:dLbls>
          <c:txPr>
            <a:bodyPr xmlns:a="http://schemas.openxmlformats.org/drawingml/2006/main" anchorCtr="1"/>
            <a:lstStyle xmlns:a="http://schemas.openxmlformats.org/drawingml/2006/main"/>
            <a:p xmlns:a="http://schemas.openxmlformats.org/drawingml/2006/main">
              <a:pPr>
                <a:defRPr sz="1800">
                  <a:solidFill>
                    <a:srgbClr val="122C3A"/>
                  </a:solidFill>
                  <a:latin typeface="Arial"/>
                  <a:ea typeface="Arial"/>
                  <a:cs typeface="Arial"/>
                </a:defRPr>
              </a:pPr>
            </a:p>
          </c:txPr>
          <c:dLblPos val="outEnd"/>
          <c:showLegendKey val="0"/>
          <c:showVal val="1"/>
          <c:showCatName val="0"/>
          <c:showSerName val="0"/>
          <c:showPercent val="0"/>
          <c:showBubbleSize val="0"/>
          <c:showLeaderLines val="0"/>
        </c:dLbls>
        <c:gapWidth val="13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122C3A"/>
                </a:solidFill>
                <a:latin typeface="Arial"/>
                <a:ea typeface="Arial"/>
                <a:cs typeface="Arial"/>
              </a:defRPr>
            </a:pPr>
          </a:p>
        </c:txPr>
        <c:crossAx val="48672768"/>
      </c:catAx>
      <c:valAx>
        <c:axId val="48672768"/>
        <c:scaling>
          <c:orientation val="minMax"/>
          <c:max val="220"/>
          <c:min val="0"/>
        </c:scaling>
        <c:delete val="0"/>
        <c:axPos val="l"/>
        <c:majorGridlines>
          <c:spPr>
            <a:ln xmlns:a="http://schemas.openxmlformats.org/drawingml/2006/main" w="9525">
              <a:solidFill>
                <a:srgbClr val="DDE5E7"/>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2636B"/>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xmlns:r="http://schemas.openxmlformats.org/officeDocument/2006/relationships" r:id="rIdChartSnapshot1">
    <c:autoUpdate val="0"/>
  </c:externalData>
</c:chartSpace>
</file>

<file path=ppt/slides/charts/chart2.xml><?xml version="1.0" encoding="utf-8"?>
<c:chartSpace xmlns:c="http://schemas.openxmlformats.org/drawingml/2006/chart">
  <c:lang val="en-US"/>
  <c:chart>
    <c:plotArea>
      <c:barChart>
        <c:barDir val="col"/>
        <c:grouping val="clustered"/>
        <c:varyColors val="0"/>
        <c:ser>
          <c:idx val="0"/>
          <c:order val="0"/>
          <c:tx>
            <c:v>Total community cost EUR</c:v>
          </c:tx>
          <c:spPr>
            <a:solidFill xmlns:a="http://schemas.openxmlformats.org/drawingml/2006/main">
              <a:srgbClr val="167D8D"/>
            </a:solidFill>
          </c:spPr>
          <c:cat>
            <c:strRef>
              <c:f>'Chart Data'!$A$2:$A$5</c:f>
              <c:strCache>
                <c:ptCount val="4"/>
                <c:pt idx="0">
                  <c:v>Persistence</c:v>
                </c:pt>
                <c:pt idx="1">
                  <c:v>Previous day</c:v>
                </c:pt>
                <c:pt idx="2">
                  <c:v>Ridge</c:v>
                </c:pt>
                <c:pt idx="3">
                  <c:v>Oracle*</c:v>
                </c:pt>
              </c:strCache>
            </c:strRef>
          </c:cat>
          <c:val>
            <c:numRef>
              <c:f>'Chart Data'!$B$2:$B$5</c:f>
              <c:numCache>
                <c:formatCode>0.0000</c:formatCode>
                <c:ptCount val="4"/>
                <c:pt idx="0">
                  <c:v>159.1604270830443</c:v>
                </c:pt>
                <c:pt idx="1">
                  <c:v>160.3050594467226</c:v>
                </c:pt>
                <c:pt idx="2">
                  <c:v>158.8618484783982</c:v>
                </c:pt>
                <c:pt idx="3">
                  <c:v>153.761378532508</c:v>
                </c:pt>
              </c:numCache>
            </c:numRef>
          </c:val>
        </c:ser>
        <c:dLbls>
          <c:txPr>
            <a:bodyPr xmlns:a="http://schemas.openxmlformats.org/drawingml/2006/main" anchorCtr="1"/>
            <a:lstStyle xmlns:a="http://schemas.openxmlformats.org/drawingml/2006/main"/>
            <a:p xmlns:a="http://schemas.openxmlformats.org/drawingml/2006/main">
              <a:pPr>
                <a:defRPr sz="1800">
                  <a:solidFill>
                    <a:srgbClr val="122C3A"/>
                  </a:solidFill>
                  <a:latin typeface="Arial"/>
                  <a:ea typeface="Arial"/>
                  <a:cs typeface="Arial"/>
                </a:defRPr>
              </a:pPr>
            </a:p>
          </c:txPr>
          <c:dLblPos val="outEnd"/>
          <c:showLegendKey val="0"/>
          <c:showVal val="1"/>
          <c:showCatName val="0"/>
          <c:showSerName val="0"/>
          <c:showPercent val="0"/>
          <c:showBubbleSize val="0"/>
          <c:showLeaderLines val="0"/>
        </c:dLbls>
        <c:gapWidth val="13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122C3A"/>
                </a:solidFill>
                <a:latin typeface="Arial"/>
                <a:ea typeface="Arial"/>
                <a:cs typeface="Arial"/>
              </a:defRPr>
            </a:pPr>
          </a:p>
        </c:txPr>
        <c:crossAx val="48672768"/>
      </c:catAx>
      <c:valAx>
        <c:axId val="48672768"/>
        <c:scaling>
          <c:orientation val="minMax"/>
          <c:max val="180"/>
          <c:min val="0"/>
        </c:scaling>
        <c:delete val="0"/>
        <c:axPos val="l"/>
        <c:majorGridlines>
          <c:spPr>
            <a:ln xmlns:a="http://schemas.openxmlformats.org/drawingml/2006/main" w="9525">
              <a:solidFill>
                <a:srgbClr val="DDE5E7"/>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2636B"/>
                </a:solidFill>
                <a:latin typeface="Arial"/>
                <a:ea typeface="Arial"/>
                <a:cs typeface="Arial"/>
              </a:defRPr>
            </a:pPr>
          </a:p>
        </c:txPr>
        <c:crossAx val="48650112"/>
        <c:crossBetween val="between"/>
        <c:majorUnit val="30"/>
      </c:valAx>
      <c:spPr>
        <a:solidFill xmlns:a="http://schemas.openxmlformats.org/drawingml/2006/main">
          <a:srgbClr val="FFFFFF"/>
        </a:solidFill>
      </c:spPr>
    </c:plotArea>
    <c:plotVisOnly val="1"/>
  </c:chart>
  <c:spPr>
    <a:solidFill xmlns:a="http://schemas.openxmlformats.org/drawingml/2006/main">
      <a:srgbClr val="FFFFFF"/>
    </a:solidFill>
  </c:spPr>
  <c:externalData xmlns:r="http://schemas.openxmlformats.org/officeDocument/2006/relationships" r:id="rIdChartSnapshot1">
    <c:autoUpdate val="0"/>
  </c:externalData>
</c:chartSpace>
</file>

<file path=ppt/slides/slide1.xml><?xml version="1.0" encoding="utf-8"?>
<p:sld xmlns:p="http://schemas.openxmlformats.org/presentationml/2006/main">
  <p:cSld>
    <p:bg>
      <p:bgPr>
        <a:solidFill xmlns:a="http://schemas.openxmlformats.org/drawingml/2006/main">
          <a:srgbClr val="122C3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EB7D0C53-6507-481F-848F-8E8EDEE0C74A}"/>
              </a:ext>
            </a:extLst>
          </p:cNvPr>
          <p:cNvSpPr>
            <a:spLocks xmlns:a="http://schemas.openxmlformats.org/drawingml/2006/main" noGrp="1"/>
          </p:cNvSpPr>
          <p:nvPr/>
        </p:nvSpPr>
        <p:spPr>
          <a:xfrm xmlns:a="http://schemas.openxmlformats.org/drawingml/2006/main">
            <a:off x="666750" y="64770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5700" b="1">
                <a:solidFill>
                  <a:srgbClr val="FFFFFF"/>
                </a:solidFill>
                <a:latin typeface="Arial"/>
                <a:ea typeface="Arial"/>
                <a:cs typeface="Arial"/>
              </a:defRPr>
            </a:pPr>
            <a:r>
              <a:rPr sz="5700" b="1">
                <a:solidFill>
                  <a:srgbClr val="FFFFFF"/>
                </a:solidFill>
                <a:latin typeface="Arial"/>
                <a:ea typeface="Arial"/>
                <a:cs typeface="Arial"/>
              </a:rPr>
              <a:t>GridMind</a:t>
            </a:r>
          </a:p>
        </p:txBody>
      </p:sp>
      <p:sp>
        <p:nvSpPr>
          <p:cNvPr id="2" name="">
            <a:extLst xmlns:a="http://schemas.openxmlformats.org/drawingml/2006/main">
              <a:ext uri="{FF2B5EF4-FFF2-40B4-BE49-F238E27FC236}">
                <a16:creationId xmlns:a16="http://schemas.microsoft.com/office/drawing/2014/main" id="{FCBB1B07-260F-4FE7-8942-75AC7E5CA1BB}"/>
              </a:ext>
            </a:extLst>
          </p:cNvPr>
          <p:cNvSpPr>
            <a:spLocks xmlns:a="http://schemas.openxmlformats.org/drawingml/2006/main" noGrp="1"/>
          </p:cNvSpPr>
          <p:nvPr/>
        </p:nvSpPr>
        <p:spPr>
          <a:xfrm xmlns:a="http://schemas.openxmlformats.org/drawingml/2006/main">
            <a:off x="704850" y="2057400"/>
            <a:ext cx="10477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75" b="0">
                <a:solidFill>
                  <a:srgbClr val="FFFFFF"/>
                </a:solidFill>
                <a:latin typeface="Arial"/>
                <a:ea typeface="Arial"/>
                <a:cs typeface="Arial"/>
              </a:defRPr>
            </a:pPr>
            <a:r>
              <a:rPr sz="3375" b="0">
                <a:solidFill>
                  <a:srgbClr val="FFFFFF"/>
                </a:solidFill>
                <a:latin typeface="Arial"/>
                <a:ea typeface="Arial"/>
                <a:cs typeface="Arial"/>
              </a:rPr>
              <a:t>AI and Blockchain Integration in Smart Grids for Autonomous Energy Trading and Risk Optimization</a:t>
            </a:r>
          </a:p>
        </p:txBody>
      </p:sp>
      <p:sp>
        <p:nvSpPr>
          <p:cNvPr id="3" name="">
            <a:extLst xmlns:a="http://schemas.openxmlformats.org/drawingml/2006/main">
              <a:ext uri="{FF2B5EF4-FFF2-40B4-BE49-F238E27FC236}">
                <a16:creationId xmlns:a16="http://schemas.microsoft.com/office/drawing/2014/main" id="{C0C6438E-93E8-47FB-BD4D-36C34F468FF3}"/>
              </a:ext>
            </a:extLst>
          </p:cNvPr>
          <p:cNvSpPr>
            <a:spLocks xmlns:a="http://schemas.openxmlformats.org/drawingml/2006/main" noGrp="1"/>
          </p:cNvSpPr>
          <p:nvPr/>
        </p:nvSpPr>
        <p:spPr>
          <a:xfrm xmlns:a="http://schemas.openxmlformats.org/drawingml/2006/main">
            <a:off x="704850" y="4714875"/>
            <a:ext cx="10382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CDE5E8"/>
                </a:solidFill>
                <a:latin typeface="Arial"/>
                <a:ea typeface="Arial"/>
                <a:cs typeface="Arial"/>
              </a:defRPr>
            </a:pPr>
            <a:r>
              <a:rPr sz="1875" b="0">
                <a:solidFill>
                  <a:srgbClr val="CDE5E8"/>
                </a:solidFill>
                <a:latin typeface="Arial"/>
                <a:ea typeface="Arial"/>
                <a:cs typeface="Arial"/>
              </a:rPr>
              <a:t>Taha Can Tilkioğlu · Serhat Yiğit · Cem Yılmaz</a:t>
            </a:r>
          </a:p>
          <a:p xmlns:a="http://schemas.openxmlformats.org/drawingml/2006/main">
            <a:pPr>
              <a:buNone/>
              <a:defRPr sz="1875" b="0">
                <a:solidFill>
                  <a:srgbClr val="CDE5E8"/>
                </a:solidFill>
                <a:latin typeface="Arial"/>
                <a:ea typeface="Arial"/>
                <a:cs typeface="Arial"/>
              </a:defRPr>
            </a:pPr>
            <a:r>
              <a:rPr sz="1875" b="0">
                <a:solidFill>
                  <a:srgbClr val="CDE5E8"/>
                </a:solidFill>
                <a:latin typeface="Arial"/>
                <a:ea typeface="Arial"/>
                <a:cs typeface="Arial"/>
              </a:rPr>
              <a:t>Engineering Management · Poznań University of Technology</a:t>
            </a:r>
          </a:p>
          <a:p xmlns:a="http://schemas.openxmlformats.org/drawingml/2006/main">
            <a:pPr>
              <a:buNone/>
              <a:defRPr sz="1875" b="0">
                <a:solidFill>
                  <a:srgbClr val="CDE5E8"/>
                </a:solidFill>
                <a:latin typeface="Arial"/>
                <a:ea typeface="Arial"/>
                <a:cs typeface="Arial"/>
              </a:defRPr>
            </a:pPr>
            <a:r>
              <a:rPr sz="1875" b="0">
                <a:solidFill>
                  <a:srgbClr val="CDE5E8"/>
                </a:solidFill>
                <a:latin typeface="Arial"/>
                <a:ea typeface="Arial"/>
                <a:cs typeface="Arial"/>
              </a:rPr>
              <a:t>Supervisor: Dr. Fredrick Mumali</a:t>
            </a:r>
          </a:p>
        </p:txBody>
      </p:sp>
    </p:spTree>
    <p:extLst>
      <p:ext uri="{BB962C8B-B14F-4D97-AF65-F5344CB8AC3E}">
        <p14:creationId xmlns:p14="http://schemas.microsoft.com/office/powerpoint/2010/main" val="200293142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E2D142D-5120-4C91-9E54-BF562825B8EB}"/>
              </a:ext>
            </a:extLst>
          </p:cNvPr>
          <p:cNvSpPr>
            <a:spLocks xmlns:a="http://schemas.openxmlformats.org/drawingml/2006/main" noGrp="1"/>
          </p:cNvSpPr>
          <p:nvPr/>
        </p:nvSpPr>
        <p:spPr>
          <a:xfrm xmlns:a="http://schemas.openxmlformats.org/drawingml/2006/main">
            <a:off x="609600" y="428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22C3A"/>
                </a:solidFill>
                <a:latin typeface="Arial"/>
                <a:ea typeface="Arial"/>
                <a:cs typeface="Arial"/>
              </a:defRPr>
            </a:pPr>
            <a:r>
              <a:rPr sz="3300" b="1">
                <a:solidFill>
                  <a:srgbClr val="122C3A"/>
                </a:solidFill>
                <a:latin typeface="Arial"/>
                <a:ea typeface="Arial"/>
                <a:cs typeface="Arial"/>
              </a:rPr>
              <a:t>Research objective and market role</a:t>
            </a:r>
          </a:p>
        </p:txBody>
      </p:sp>
      <p:sp>
        <p:nvSpPr>
          <p:cNvPr id="2" name="">
            <a:extLst xmlns:a="http://schemas.openxmlformats.org/drawingml/2006/main">
              <a:ext uri="{FF2B5EF4-FFF2-40B4-BE49-F238E27FC236}">
                <a16:creationId xmlns:a16="http://schemas.microsoft.com/office/drawing/2014/main" id="{B96F3BE8-0C8A-4AE7-8511-B7004F68F739}"/>
              </a:ext>
            </a:extLst>
          </p:cNvPr>
          <p:cNvSpPr>
            <a:spLocks xmlns:a="http://schemas.openxmlformats.org/drawingml/2006/main" noGrp="1"/>
          </p:cNvSpPr>
          <p:nvPr/>
        </p:nvSpPr>
        <p:spPr>
          <a:xfrm xmlns:a="http://schemas.openxmlformats.org/drawingml/2006/main">
            <a:off x="647700" y="1695450"/>
            <a:ext cx="10810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22C3A"/>
                </a:solidFill>
                <a:latin typeface="Arial"/>
                <a:ea typeface="Arial"/>
                <a:cs typeface="Arial"/>
              </a:defRPr>
            </a:pPr>
            <a:r>
              <a:rPr sz="2325" b="0">
                <a:solidFill>
                  <a:srgbClr val="122C3A"/>
                </a:solidFill>
                <a:latin typeface="Arial"/>
                <a:ea typeface="Arial"/>
                <a:cs typeface="Arial"/>
              </a:rPr>
              <a:t>Application target: a price-taking BESS trader in Poland</a:t>
            </a:r>
          </a:p>
        </p:txBody>
      </p:sp>
      <p:sp>
        <p:nvSpPr>
          <p:cNvPr id="3" name="">
            <a:extLst xmlns:a="http://schemas.openxmlformats.org/drawingml/2006/main">
              <a:ext uri="{FF2B5EF4-FFF2-40B4-BE49-F238E27FC236}">
                <a16:creationId xmlns:a16="http://schemas.microsoft.com/office/drawing/2014/main" id="{49ACA32C-51DC-4F60-8714-C054F6C195BC}"/>
              </a:ext>
            </a:extLst>
          </p:cNvPr>
          <p:cNvSpPr>
            <a:spLocks xmlns:a="http://schemas.openxmlformats.org/drawingml/2006/main" noGrp="1"/>
          </p:cNvSpPr>
          <p:nvPr/>
        </p:nvSpPr>
        <p:spPr>
          <a:xfrm xmlns:a="http://schemas.openxmlformats.org/drawingml/2006/main">
            <a:off x="647700" y="2514600"/>
            <a:ext cx="10810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22C3A"/>
                </a:solidFill>
                <a:latin typeface="Arial"/>
                <a:ea typeface="Arial"/>
                <a:cs typeface="Arial"/>
              </a:defRPr>
            </a:pPr>
            <a:r>
              <a:rPr sz="2325" b="0">
                <a:solidFill>
                  <a:srgbClr val="122C3A"/>
                </a:solidFill>
                <a:latin typeface="Arial"/>
                <a:ea typeface="Arial"/>
                <a:cs typeface="Arial"/>
              </a:rPr>
              <a:t>Completed measured study: six Irish households under assumed tariffs</a:t>
            </a:r>
          </a:p>
        </p:txBody>
      </p:sp>
      <p:sp>
        <p:nvSpPr>
          <p:cNvPr id="4" name="">
            <a:extLst xmlns:a="http://schemas.openxmlformats.org/drawingml/2006/main">
              <a:ext uri="{FF2B5EF4-FFF2-40B4-BE49-F238E27FC236}">
                <a16:creationId xmlns:a16="http://schemas.microsoft.com/office/drawing/2014/main" id="{ABCFDF6F-CD4E-478C-ABA5-B7505361DB7D}"/>
              </a:ext>
            </a:extLst>
          </p:cNvPr>
          <p:cNvSpPr>
            <a:spLocks xmlns:a="http://schemas.openxmlformats.org/drawingml/2006/main" noGrp="1"/>
          </p:cNvSpPr>
          <p:nvPr/>
        </p:nvSpPr>
        <p:spPr>
          <a:xfrm xmlns:a="http://schemas.openxmlformats.org/drawingml/2006/main">
            <a:off x="647700" y="3333750"/>
            <a:ext cx="10810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22C3A"/>
                </a:solidFill>
                <a:latin typeface="Arial"/>
                <a:ea typeface="Arial"/>
                <a:cs typeface="Arial"/>
              </a:defRPr>
            </a:pPr>
            <a:r>
              <a:rPr sz="2325" b="0">
                <a:solidFill>
                  <a:srgbClr val="122C3A"/>
                </a:solidFill>
                <a:latin typeface="Arial"/>
                <a:ea typeface="Arial"/>
                <a:cs typeface="Arial"/>
              </a:rPr>
              <a:t>Community outcome: net cost and the distribution of savings</a:t>
            </a:r>
          </a:p>
        </p:txBody>
      </p:sp>
      <p:sp>
        <p:nvSpPr>
          <p:cNvPr id="5" name="">
            <a:extLst xmlns:a="http://schemas.openxmlformats.org/drawingml/2006/main">
              <a:ext uri="{FF2B5EF4-FFF2-40B4-BE49-F238E27FC236}">
                <a16:creationId xmlns:a16="http://schemas.microsoft.com/office/drawing/2014/main" id="{C3AEBCE5-31FF-4C2C-A05A-51F16F696A89}"/>
              </a:ext>
            </a:extLst>
          </p:cNvPr>
          <p:cNvSpPr>
            <a:spLocks xmlns:a="http://schemas.openxmlformats.org/drawingml/2006/main" noGrp="1"/>
          </p:cNvSpPr>
          <p:nvPr/>
        </p:nvSpPr>
        <p:spPr>
          <a:xfrm xmlns:a="http://schemas.openxmlformats.org/drawingml/2006/main">
            <a:off x="647700" y="4152900"/>
            <a:ext cx="10810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22C3A"/>
                </a:solidFill>
                <a:latin typeface="Arial"/>
                <a:ea typeface="Arial"/>
                <a:cs typeface="Arial"/>
              </a:defRPr>
            </a:pPr>
            <a:r>
              <a:rPr sz="2325" b="0">
                <a:solidFill>
                  <a:srgbClr val="122C3A"/>
                </a:solidFill>
                <a:latin typeface="Arial"/>
                <a:ea typeface="Arial"/>
                <a:cs typeface="Arial"/>
              </a:rPr>
              <a:t>Polish preparation: physical scheduling and forecast timing checks</a:t>
            </a:r>
          </a:p>
        </p:txBody>
      </p:sp>
      <p:sp>
        <p:nvSpPr>
          <p:cNvPr id="6" name="">
            <a:extLst xmlns:a="http://schemas.openxmlformats.org/drawingml/2006/main">
              <a:ext uri="{FF2B5EF4-FFF2-40B4-BE49-F238E27FC236}">
                <a16:creationId xmlns:a16="http://schemas.microsoft.com/office/drawing/2014/main" id="{431FE3BE-3228-4AB2-952D-940ABE609390}"/>
              </a:ext>
            </a:extLst>
          </p:cNvPr>
          <p:cNvSpPr>
            <a:spLocks xmlns:a="http://schemas.openxmlformats.org/drawingml/2006/main" noGrp="1"/>
          </p:cNvSpPr>
          <p:nvPr/>
        </p:nvSpPr>
        <p:spPr>
          <a:xfrm xmlns:a="http://schemas.openxmlformats.org/drawingml/2006/main">
            <a:off x="647700" y="5695950"/>
            <a:ext cx="10525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B"/>
                </a:solidFill>
                <a:latin typeface="Arial"/>
                <a:ea typeface="Arial"/>
                <a:cs typeface="Arial"/>
              </a:defRPr>
            </a:pPr>
            <a:r>
              <a:rPr sz="1650" b="0">
                <a:solidFill>
                  <a:srgbClr val="52636B"/>
                </a:solidFill>
                <a:latin typeface="Arial"/>
                <a:ea typeface="Arial"/>
                <a:cs typeface="Arial"/>
              </a:rPr>
              <a:t>Polish market profitability and a daily risk constraint remain untested.</a:t>
            </a:r>
          </a:p>
        </p:txBody>
      </p:sp>
      <p:sp>
        <p:nvSpPr>
          <p:cNvPr id="7" name="">
            <a:extLst xmlns:a="http://schemas.openxmlformats.org/drawingml/2006/main">
              <a:ext uri="{FF2B5EF4-FFF2-40B4-BE49-F238E27FC236}">
                <a16:creationId xmlns:a16="http://schemas.microsoft.com/office/drawing/2014/main" id="{476380B4-06BE-406F-8544-9FD69F8FFA77}"/>
              </a:ext>
            </a:extLst>
          </p:cNvPr>
          <p:cNvSpPr>
            <a:spLocks xmlns:a="http://schemas.openxmlformats.org/drawingml/2006/main" noGrp="1"/>
          </p:cNvSpPr>
          <p:nvPr/>
        </p:nvSpPr>
        <p:spPr>
          <a:xfrm xmlns:a="http://schemas.openxmlformats.org/drawingml/2006/main">
            <a:off x="11334750" y="6334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B"/>
                </a:solidFill>
                <a:latin typeface="Arial"/>
                <a:ea typeface="Arial"/>
                <a:cs typeface="Arial"/>
              </a:defRPr>
            </a:pPr>
            <a:r>
              <a:rPr sz="1350" b="0">
                <a:solidFill>
                  <a:srgbClr val="52636B"/>
                </a:solidFill>
                <a:latin typeface="Arial"/>
                <a:ea typeface="Arial"/>
                <a:cs typeface="Arial"/>
              </a:rPr>
              <a:t>2</a:t>
            </a:r>
          </a:p>
        </p:txBody>
      </p:sp>
    </p:spTree>
    <p:extLst>
      <p:ext uri="{BB962C8B-B14F-4D97-AF65-F5344CB8AC3E}">
        <p14:creationId xmlns:p14="http://schemas.microsoft.com/office/powerpoint/2010/main" val="63222013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849CA0F-A61D-49B4-BCC9-871EDCB4335F}"/>
              </a:ext>
            </a:extLst>
          </p:cNvPr>
          <p:cNvSpPr>
            <a:spLocks xmlns:a="http://schemas.openxmlformats.org/drawingml/2006/main" noGrp="1"/>
          </p:cNvSpPr>
          <p:nvPr/>
        </p:nvSpPr>
        <p:spPr>
          <a:xfrm xmlns:a="http://schemas.openxmlformats.org/drawingml/2006/main">
            <a:off x="609600" y="428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22C3A"/>
                </a:solidFill>
                <a:latin typeface="Arial"/>
                <a:ea typeface="Arial"/>
                <a:cs typeface="Arial"/>
              </a:defRPr>
            </a:pPr>
            <a:r>
              <a:rPr sz="3300" b="1">
                <a:solidFill>
                  <a:srgbClr val="122C3A"/>
                </a:solidFill>
                <a:latin typeface="Arial"/>
                <a:ea typeface="Arial"/>
                <a:cs typeface="Arial"/>
              </a:rPr>
              <a:t>Experiments and their connections</a:t>
            </a:r>
          </a:p>
        </p:txBody>
      </p:sp>
      <p:graphicFrame>
        <p:nvGraphicFramePr>
          <p:cNvPr id="8" name=""/>
          <p:cNvGraphicFramePr/>
          <p:nvPr/>
        </p:nvGraphicFramePr>
        <p:xfrm>
          <a:off xmlns:a="http://schemas.openxmlformats.org/drawingml/2006/main" x="609600" y="1704975"/>
          <a:ext xmlns:a="http://schemas.openxmlformats.org/drawingml/2006/main" cx="10972800" cy="3429000"/>
        </p:xfrm>
        <a:graphic xmlns:a="http://schemas.openxmlformats.org/drawingml/2006/main">
          <a:graphicData uri="http://schemas.openxmlformats.org/drawingml/2006/table">
            <a:tbl>
              <a:tblPr/>
              <a:tblGrid>
                <a:gridCol w="3657600"/>
                <a:gridCol w="3657600"/>
                <a:gridCol w="3657600"/>
              </a:tblGrid>
              <a:tr h="857250">
                <a:tc>
                  <a:txBody>
                    <a:bodyPr/>
                    <a:lstStyle/>
                    <a:p>
                      <a:r>
                        <a:rPr sz="1800" b="1">
                          <a:solidFill>
                            <a:srgbClr val="FFFFFF"/>
                          </a:solidFill>
                          <a:latin typeface="Arial"/>
                          <a:ea typeface="Arial"/>
                          <a:cs typeface="Arial"/>
                        </a:rPr>
                        <a:t>Experiment</a:t>
                      </a:r>
                    </a:p>
                  </a:txBody>
                  <a:tcPr marL="142875" marR="142875" marT="95250" marB="95250">
                    <a:solidFill>
                      <a:srgbClr val="122C3A"/>
                    </a:solidFill>
                  </a:tcPr>
                </a:tc>
                <a:tc>
                  <a:txBody>
                    <a:bodyPr/>
                    <a:lstStyle/>
                    <a:p>
                      <a:r>
                        <a:rPr sz="1800" b="1">
                          <a:solidFill>
                            <a:srgbClr val="FFFFFF"/>
                          </a:solidFill>
                          <a:latin typeface="Arial"/>
                          <a:ea typeface="Arial"/>
                          <a:cs typeface="Arial"/>
                        </a:rPr>
                        <a:t>Comparison</a:t>
                      </a:r>
                    </a:p>
                  </a:txBody>
                  <a:tcPr marL="142875" marR="142875" marT="95250" marB="95250">
                    <a:solidFill>
                      <a:srgbClr val="122C3A"/>
                    </a:solidFill>
                  </a:tcPr>
                </a:tc>
                <a:tc>
                  <a:txBody>
                    <a:bodyPr/>
                    <a:lstStyle/>
                    <a:p>
                      <a:r>
                        <a:rPr sz="1800" b="1">
                          <a:solidFill>
                            <a:srgbClr val="FFFFFF"/>
                          </a:solidFill>
                          <a:latin typeface="Arial"/>
                          <a:ea typeface="Arial"/>
                          <a:cs typeface="Arial"/>
                        </a:rPr>
                        <a:t>Evidence</a:t>
                      </a:r>
                    </a:p>
                  </a:txBody>
                  <a:tcPr marL="142875" marR="142875" marT="95250" marB="95250">
                    <a:solidFill>
                      <a:srgbClr val="122C3A"/>
                    </a:solidFill>
                  </a:tcPr>
                </a:tc>
              </a:tr>
              <a:tr h="857250">
                <a:tc>
                  <a:txBody>
                    <a:bodyPr/>
                    <a:lstStyle/>
                    <a:p>
                      <a:r>
                        <a:rPr sz="1800" b="0">
                          <a:solidFill>
                            <a:srgbClr val="122C3A"/>
                          </a:solidFill>
                          <a:latin typeface="Arial"/>
                          <a:ea typeface="Arial"/>
                          <a:cs typeface="Arial"/>
                        </a:rPr>
                        <a:t>Allocation</a:t>
                      </a:r>
                    </a:p>
                  </a:txBody>
                  <a:tcPr marL="142875" marR="142875" marT="95250" marB="95250">
                    <a:solidFill>
                      <a:srgbClr val="FFFFFF"/>
                    </a:solidFill>
                  </a:tcPr>
                </a:tc>
                <a:tc>
                  <a:txBody>
                    <a:bodyPr/>
                    <a:lstStyle/>
                    <a:p>
                      <a:r>
                        <a:rPr sz="1800" b="0">
                          <a:solidFill>
                            <a:srgbClr val="122C3A"/>
                          </a:solidFill>
                          <a:latin typeface="Arial"/>
                          <a:ea typeface="Arial"/>
                          <a:cs typeface="Arial"/>
                        </a:rPr>
                        <a:t>Proportional, welfare LP, Nash</a:t>
                      </a:r>
                    </a:p>
                  </a:txBody>
                  <a:tcPr marL="142875" marR="142875" marT="95250" marB="95250">
                    <a:solidFill>
                      <a:srgbClr val="FFFFFF"/>
                    </a:solidFill>
                  </a:tcPr>
                </a:tc>
                <a:tc>
                  <a:txBody>
                    <a:bodyPr/>
                    <a:lstStyle/>
                    <a:p>
                      <a:r>
                        <a:rPr sz="1800" b="0">
                          <a:solidFill>
                            <a:srgbClr val="122C3A"/>
                          </a:solidFill>
                          <a:latin typeface="Arial"/>
                          <a:ea typeface="Arial"/>
                          <a:cs typeface="Arial"/>
                        </a:rPr>
                        <a:t>Savings and fairness</a:t>
                      </a:r>
                    </a:p>
                  </a:txBody>
                  <a:tcPr marL="142875" marR="142875" marT="95250" marB="95250">
                    <a:solidFill>
                      <a:srgbClr val="FFFFFF"/>
                    </a:solidFill>
                  </a:tcPr>
                </a:tc>
              </a:tr>
              <a:tr h="857250">
                <a:tc>
                  <a:txBody>
                    <a:bodyPr/>
                    <a:lstStyle/>
                    <a:p>
                      <a:r>
                        <a:rPr sz="1800" b="0">
                          <a:solidFill>
                            <a:srgbClr val="122C3A"/>
                          </a:solidFill>
                          <a:latin typeface="Arial"/>
                          <a:ea typeface="Arial"/>
                          <a:cs typeface="Arial"/>
                        </a:rPr>
                        <a:t>Battery control</a:t>
                      </a:r>
                    </a:p>
                  </a:txBody>
                  <a:tcPr marL="142875" marR="142875" marT="95250" marB="95250">
                    <a:solidFill>
                      <a:srgbClr val="EFF5F5"/>
                    </a:solidFill>
                  </a:tcPr>
                </a:tc>
                <a:tc>
                  <a:txBody>
                    <a:bodyPr/>
                    <a:lstStyle/>
                    <a:p>
                      <a:r>
                        <a:rPr sz="1800" b="0">
                          <a:solidFill>
                            <a:srgbClr val="122C3A"/>
                          </a:solidFill>
                          <a:latin typeface="Arial"/>
                          <a:ea typeface="Arial"/>
                          <a:cs typeface="Arial"/>
                        </a:rPr>
                        <a:t>Control and forecast interventions</a:t>
                      </a:r>
                    </a:p>
                  </a:txBody>
                  <a:tcPr marL="142875" marR="142875" marT="95250" marB="95250">
                    <a:solidFill>
                      <a:srgbClr val="EFF5F5"/>
                    </a:solidFill>
                  </a:tcPr>
                </a:tc>
                <a:tc>
                  <a:txBody>
                    <a:bodyPr/>
                    <a:lstStyle/>
                    <a:p>
                      <a:r>
                        <a:rPr sz="1800" b="0">
                          <a:solidFill>
                            <a:srgbClr val="122C3A"/>
                          </a:solidFill>
                          <a:latin typeface="Arial"/>
                          <a:ea typeface="Arial"/>
                          <a:cs typeface="Arial"/>
                        </a:rPr>
                        <a:t>Cost, feasibility and household outcomes</a:t>
                      </a:r>
                    </a:p>
                  </a:txBody>
                  <a:tcPr marL="142875" marR="142875" marT="95250" marB="95250">
                    <a:solidFill>
                      <a:srgbClr val="EFF5F5"/>
                    </a:solidFill>
                  </a:tcPr>
                </a:tc>
              </a:tr>
              <a:tr h="857250">
                <a:tc>
                  <a:txBody>
                    <a:bodyPr/>
                    <a:lstStyle/>
                    <a:p>
                      <a:r>
                        <a:rPr sz="1800" b="0">
                          <a:solidFill>
                            <a:srgbClr val="122C3A"/>
                          </a:solidFill>
                          <a:latin typeface="Arial"/>
                          <a:ea typeface="Arial"/>
                          <a:cs typeface="Arial"/>
                        </a:rPr>
                        <a:t>Settlement</a:t>
                      </a:r>
                    </a:p>
                  </a:txBody>
                  <a:tcPr marL="142875" marR="142875" marT="95250" marB="95250">
                    <a:solidFill>
                      <a:srgbClr val="FFFFFF"/>
                    </a:solidFill>
                  </a:tcPr>
                </a:tc>
                <a:tc>
                  <a:txBody>
                    <a:bodyPr/>
                    <a:lstStyle/>
                    <a:p>
                      <a:r>
                        <a:rPr sz="1800" b="0">
                          <a:solidFill>
                            <a:srgbClr val="122C3A"/>
                          </a:solidFill>
                          <a:latin typeface="Arial"/>
                          <a:ea typeface="Arial"/>
                          <a:cs typeface="Arial"/>
                        </a:rPr>
                        <a:t>Solidity and signed SQLite</a:t>
                      </a:r>
                    </a:p>
                  </a:txBody>
                  <a:tcPr marL="142875" marR="142875" marT="95250" marB="95250">
                    <a:solidFill>
                      <a:srgbClr val="FFFFFF"/>
                    </a:solidFill>
                  </a:tcPr>
                </a:tc>
                <a:tc>
                  <a:txBody>
                    <a:bodyPr/>
                    <a:lstStyle/>
                    <a:p>
                      <a:r>
                        <a:rPr sz="1800" b="0">
                          <a:solidFill>
                            <a:srgbClr val="122C3A"/>
                          </a:solidFill>
                          <a:latin typeface="Arial"/>
                          <a:ea typeface="Arial"/>
                          <a:cs typeface="Arial"/>
                        </a:rPr>
                        <a:t>Balance parity and rejection checks</a:t>
                      </a:r>
                    </a:p>
                  </a:txBody>
                  <a:tcPr marL="142875" marR="142875" marT="95250" marB="9525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CDE3EFEC-D2A2-4C4E-96E6-143C410B4AB3}"/>
              </a:ext>
            </a:extLst>
          </p:cNvPr>
          <p:cNvSpPr>
            <a:spLocks xmlns:a="http://schemas.openxmlformats.org/drawingml/2006/main" noGrp="1"/>
          </p:cNvSpPr>
          <p:nvPr/>
        </p:nvSpPr>
        <p:spPr>
          <a:xfrm xmlns:a="http://schemas.openxmlformats.org/drawingml/2006/main">
            <a:off x="647700" y="5695950"/>
            <a:ext cx="10525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B"/>
                </a:solidFill>
                <a:latin typeface="Arial"/>
                <a:ea typeface="Arial"/>
                <a:cs typeface="Arial"/>
              </a:defRPr>
            </a:pPr>
            <a:r>
              <a:rPr sz="1650" b="0">
                <a:solidFill>
                  <a:srgbClr val="52636B"/>
                </a:solidFill>
                <a:latin typeface="Arial"/>
                <a:ea typeface="Arial"/>
                <a:cs typeface="Arial"/>
              </a:rPr>
              <a:t>New intervention: causal forecasts feed the same MPC and change realized cost.</a:t>
            </a:r>
          </a:p>
        </p:txBody>
      </p:sp>
      <p:sp>
        <p:nvSpPr>
          <p:cNvPr id="4" name="">
            <a:extLst xmlns:a="http://schemas.openxmlformats.org/drawingml/2006/main">
              <a:ext uri="{FF2B5EF4-FFF2-40B4-BE49-F238E27FC236}">
                <a16:creationId xmlns:a16="http://schemas.microsoft.com/office/drawing/2014/main" id="{41A284AA-E35A-44E2-9CE2-0FC0BAE8105E}"/>
              </a:ext>
            </a:extLst>
          </p:cNvPr>
          <p:cNvSpPr>
            <a:spLocks xmlns:a="http://schemas.openxmlformats.org/drawingml/2006/main" noGrp="1"/>
          </p:cNvSpPr>
          <p:nvPr/>
        </p:nvSpPr>
        <p:spPr>
          <a:xfrm xmlns:a="http://schemas.openxmlformats.org/drawingml/2006/main">
            <a:off x="11334750" y="6334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B"/>
                </a:solidFill>
                <a:latin typeface="Arial"/>
                <a:ea typeface="Arial"/>
                <a:cs typeface="Arial"/>
              </a:defRPr>
            </a:pPr>
            <a:r>
              <a:rPr sz="1350" b="0">
                <a:solidFill>
                  <a:srgbClr val="52636B"/>
                </a:solidFill>
                <a:latin typeface="Arial"/>
                <a:ea typeface="Arial"/>
                <a:cs typeface="Arial"/>
              </a:rPr>
              <a:t>3</a:t>
            </a:r>
          </a:p>
        </p:txBody>
      </p:sp>
    </p:spTree>
    <p:extLst>
      <p:ext uri="{BB962C8B-B14F-4D97-AF65-F5344CB8AC3E}">
        <p14:creationId xmlns:p14="http://schemas.microsoft.com/office/powerpoint/2010/main" val="124412267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60AD04A-E24D-44F4-820B-5D1A08C0FD0E}"/>
              </a:ext>
            </a:extLst>
          </p:cNvPr>
          <p:cNvSpPr>
            <a:spLocks xmlns:a="http://schemas.openxmlformats.org/drawingml/2006/main" noGrp="1"/>
          </p:cNvSpPr>
          <p:nvPr/>
        </p:nvSpPr>
        <p:spPr>
          <a:xfrm xmlns:a="http://schemas.openxmlformats.org/drawingml/2006/main">
            <a:off x="609600" y="428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22C3A"/>
                </a:solidFill>
                <a:latin typeface="Arial"/>
                <a:ea typeface="Arial"/>
                <a:cs typeface="Arial"/>
              </a:defRPr>
            </a:pPr>
            <a:r>
              <a:rPr sz="3300" b="1">
                <a:solidFill>
                  <a:srgbClr val="122C3A"/>
                </a:solidFill>
                <a:latin typeface="Arial"/>
                <a:ea typeface="Arial"/>
                <a:cs typeface="Arial"/>
              </a:rPr>
              <a:t>Measured profiles and chronological evaluation</a:t>
            </a:r>
          </a:p>
        </p:txBody>
      </p:sp>
      <p:graphicFrame>
        <p:nvGraphicFramePr>
          <p:cNvPr id="8" name=""/>
          <p:cNvGraphicFramePr/>
          <p:nvPr/>
        </p:nvGraphicFramePr>
        <p:xfrm>
          <a:off xmlns:a="http://schemas.openxmlformats.org/drawingml/2006/main" x="609600" y="1704975"/>
          <a:ext xmlns:a="http://schemas.openxmlformats.org/drawingml/2006/main" cx="10972800" cy="3429000"/>
        </p:xfrm>
        <a:graphic xmlns:a="http://schemas.openxmlformats.org/drawingml/2006/main">
          <a:graphicData uri="http://schemas.openxmlformats.org/drawingml/2006/table">
            <a:tbl>
              <a:tblPr/>
              <a:tblGrid>
                <a:gridCol w="5486400"/>
                <a:gridCol w="5486400"/>
              </a:tblGrid>
              <a:tr h="571500">
                <a:tc>
                  <a:txBody>
                    <a:bodyPr/>
                    <a:lstStyle/>
                    <a:p>
                      <a:r>
                        <a:rPr sz="1875" b="1">
                          <a:solidFill>
                            <a:srgbClr val="FFFFFF"/>
                          </a:solidFill>
                          <a:latin typeface="Arial"/>
                          <a:ea typeface="Arial"/>
                          <a:cs typeface="Arial"/>
                        </a:rPr>
                        <a:t>Data or split</a:t>
                      </a:r>
                    </a:p>
                  </a:txBody>
                  <a:tcPr marL="142875" marR="142875" marT="95250" marB="95250">
                    <a:solidFill>
                      <a:srgbClr val="122C3A"/>
                    </a:solidFill>
                  </a:tcPr>
                </a:tc>
                <a:tc>
                  <a:txBody>
                    <a:bodyPr/>
                    <a:lstStyle/>
                    <a:p>
                      <a:r>
                        <a:rPr sz="1875" b="1">
                          <a:solidFill>
                            <a:srgbClr val="FFFFFF"/>
                          </a:solidFill>
                          <a:latin typeface="Arial"/>
                          <a:ea typeface="Arial"/>
                          <a:cs typeface="Arial"/>
                        </a:rPr>
                        <a:t>Recorded coverage</a:t>
                      </a:r>
                    </a:p>
                  </a:txBody>
                  <a:tcPr marL="142875" marR="142875" marT="95250" marB="95250">
                    <a:solidFill>
                      <a:srgbClr val="122C3A"/>
                    </a:solidFill>
                  </a:tcPr>
                </a:tc>
              </a:tr>
              <a:tr h="571500">
                <a:tc>
                  <a:txBody>
                    <a:bodyPr/>
                    <a:lstStyle/>
                    <a:p>
                      <a:r>
                        <a:rPr sz="1875" b="0">
                          <a:solidFill>
                            <a:srgbClr val="122C3A"/>
                          </a:solidFill>
                          <a:latin typeface="Arial"/>
                          <a:ea typeface="Arial"/>
                          <a:cs typeface="Arial"/>
                        </a:rPr>
                        <a:t>Source</a:t>
                      </a:r>
                    </a:p>
                  </a:txBody>
                  <a:tcPr marL="142875" marR="142875" marT="95250" marB="95250">
                    <a:solidFill>
                      <a:srgbClr val="FFFFFF"/>
                    </a:solidFill>
                  </a:tcPr>
                </a:tc>
                <a:tc>
                  <a:txBody>
                    <a:bodyPr/>
                    <a:lstStyle/>
                    <a:p>
                      <a:r>
                        <a:rPr sz="1875" b="0">
                          <a:solidFill>
                            <a:srgbClr val="122C3A"/>
                          </a:solidFill>
                          <a:latin typeface="Arial"/>
                          <a:ea typeface="Arial"/>
                          <a:cs typeface="Arial"/>
                        </a:rPr>
                        <a:t>StoreNet Ireland, households H1–H6, 2020</a:t>
                      </a:r>
                    </a:p>
                  </a:txBody>
                  <a:tcPr marL="142875" marR="142875" marT="95250" marB="95250">
                    <a:solidFill>
                      <a:srgbClr val="FFFFFF"/>
                    </a:solidFill>
                  </a:tcPr>
                </a:tc>
              </a:tr>
              <a:tr h="571500">
                <a:tc>
                  <a:txBody>
                    <a:bodyPr/>
                    <a:lstStyle/>
                    <a:p>
                      <a:r>
                        <a:rPr sz="1875" b="0">
                          <a:solidFill>
                            <a:srgbClr val="122C3A"/>
                          </a:solidFill>
                          <a:latin typeface="Arial"/>
                          <a:ea typeface="Arial"/>
                          <a:cs typeface="Arial"/>
                        </a:rPr>
                        <a:t>Training</a:t>
                      </a:r>
                    </a:p>
                  </a:txBody>
                  <a:tcPr marL="142875" marR="142875" marT="95250" marB="95250">
                    <a:solidFill>
                      <a:srgbClr val="EFF5F5"/>
                    </a:solidFill>
                  </a:tcPr>
                </a:tc>
                <a:tc>
                  <a:txBody>
                    <a:bodyPr/>
                    <a:lstStyle/>
                    <a:p>
                      <a:r>
                        <a:rPr sz="1875" b="0">
                          <a:solidFill>
                            <a:srgbClr val="122C3A"/>
                          </a:solidFill>
                          <a:latin typeface="Arial"/>
                          <a:ea typeface="Arial"/>
                          <a:cs typeface="Arial"/>
                        </a:rPr>
                        <a:t>404 complete four-hour episodes, January–April</a:t>
                      </a:r>
                    </a:p>
                  </a:txBody>
                  <a:tcPr marL="142875" marR="142875" marT="95250" marB="95250">
                    <a:solidFill>
                      <a:srgbClr val="EFF5F5"/>
                    </a:solidFill>
                  </a:tcPr>
                </a:tc>
              </a:tr>
              <a:tr h="571500">
                <a:tc>
                  <a:txBody>
                    <a:bodyPr/>
                    <a:lstStyle/>
                    <a:p>
                      <a:r>
                        <a:rPr sz="1875" b="0">
                          <a:solidFill>
                            <a:srgbClr val="122C3A"/>
                          </a:solidFill>
                          <a:latin typeface="Arial"/>
                          <a:ea typeface="Arial"/>
                          <a:cs typeface="Arial"/>
                        </a:rPr>
                        <a:t>Validation</a:t>
                      </a:r>
                    </a:p>
                  </a:txBody>
                  <a:tcPr marL="142875" marR="142875" marT="95250" marB="95250">
                    <a:solidFill>
                      <a:srgbClr val="FFFFFF"/>
                    </a:solidFill>
                  </a:tcPr>
                </a:tc>
                <a:tc>
                  <a:txBody>
                    <a:bodyPr/>
                    <a:lstStyle/>
                    <a:p>
                      <a:r>
                        <a:rPr sz="1875" b="0">
                          <a:solidFill>
                            <a:srgbClr val="122C3A"/>
                          </a:solidFill>
                          <a:latin typeface="Arial"/>
                          <a:ea typeface="Arial"/>
                          <a:cs typeface="Arial"/>
                        </a:rPr>
                        <a:t>105 episodes, May</a:t>
                      </a:r>
                    </a:p>
                  </a:txBody>
                  <a:tcPr marL="142875" marR="142875" marT="95250" marB="95250">
                    <a:solidFill>
                      <a:srgbClr val="FFFFFF"/>
                    </a:solidFill>
                  </a:tcPr>
                </a:tc>
              </a:tr>
              <a:tr h="571500">
                <a:tc>
                  <a:txBody>
                    <a:bodyPr/>
                    <a:lstStyle/>
                    <a:p>
                      <a:r>
                        <a:rPr sz="1875" b="0">
                          <a:solidFill>
                            <a:srgbClr val="122C3A"/>
                          </a:solidFill>
                          <a:latin typeface="Arial"/>
                          <a:ea typeface="Arial"/>
                          <a:cs typeface="Arial"/>
                        </a:rPr>
                        <a:t>Evaluation</a:t>
                      </a:r>
                    </a:p>
                  </a:txBody>
                  <a:tcPr marL="142875" marR="142875" marT="95250" marB="95250">
                    <a:solidFill>
                      <a:srgbClr val="EFF5F5"/>
                    </a:solidFill>
                  </a:tcPr>
                </a:tc>
                <a:tc>
                  <a:txBody>
                    <a:bodyPr/>
                    <a:lstStyle/>
                    <a:p>
                      <a:r>
                        <a:rPr sz="1875" b="0">
                          <a:solidFill>
                            <a:srgbClr val="122C3A"/>
                          </a:solidFill>
                          <a:latin typeface="Arial"/>
                          <a:ea typeface="Arial"/>
                          <a:cs typeface="Arial"/>
                        </a:rPr>
                        <a:t>44 episodes, 1–14 June</a:t>
                      </a:r>
                    </a:p>
                  </a:txBody>
                  <a:tcPr marL="142875" marR="142875" marT="95250" marB="95250">
                    <a:solidFill>
                      <a:srgbClr val="EFF5F5"/>
                    </a:solidFill>
                  </a:tcPr>
                </a:tc>
              </a:tr>
              <a:tr h="571500">
                <a:tc>
                  <a:txBody>
                    <a:bodyPr/>
                    <a:lstStyle/>
                    <a:p>
                      <a:r>
                        <a:rPr sz="1875" b="0">
                          <a:solidFill>
                            <a:srgbClr val="122C3A"/>
                          </a:solidFill>
                          <a:latin typeface="Arial"/>
                          <a:ea typeface="Arial"/>
                          <a:cs typeface="Arial"/>
                        </a:rPr>
                        <a:t>Retained test intervals</a:t>
                      </a:r>
                    </a:p>
                  </a:txBody>
                  <a:tcPr marL="142875" marR="142875" marT="95250" marB="95250">
                    <a:solidFill>
                      <a:srgbClr val="FFFFFF"/>
                    </a:solidFill>
                  </a:tcPr>
                </a:tc>
                <a:tc>
                  <a:txBody>
                    <a:bodyPr/>
                    <a:lstStyle/>
                    <a:p>
                      <a:r>
                        <a:rPr sz="1875" b="0">
                          <a:solidFill>
                            <a:srgbClr val="122C3A"/>
                          </a:solidFill>
                          <a:latin typeface="Arial"/>
                          <a:ea typeface="Arial"/>
                          <a:cs typeface="Arial"/>
                        </a:rPr>
                        <a:t>704 of 1,344 intervals, 52.38%</a:t>
                      </a:r>
                    </a:p>
                  </a:txBody>
                  <a:tcPr marL="142875" marR="142875" marT="95250" marB="9525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6984DE36-BD40-471E-BA50-51B6AD58FC50}"/>
              </a:ext>
            </a:extLst>
          </p:cNvPr>
          <p:cNvSpPr>
            <a:spLocks xmlns:a="http://schemas.openxmlformats.org/drawingml/2006/main" noGrp="1"/>
          </p:cNvSpPr>
          <p:nvPr/>
        </p:nvSpPr>
        <p:spPr>
          <a:xfrm xmlns:a="http://schemas.openxmlformats.org/drawingml/2006/main">
            <a:off x="647700" y="5695950"/>
            <a:ext cx="10525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B"/>
                </a:solidFill>
                <a:latin typeface="Arial"/>
                <a:ea typeface="Arial"/>
                <a:cs typeface="Arial"/>
              </a:defRPr>
            </a:pPr>
            <a:r>
              <a:rPr sz="1650" b="0">
                <a:solidFill>
                  <a:srgbClr val="52636B"/>
                </a:solidFill>
                <a:latin typeface="Arial"/>
                <a:ea typeface="Arial"/>
                <a:cs typeface="Arial"/>
              </a:rPr>
              <a:t>Batteries and tariffs are assumptions. June dates had already been inspected in the allocation pilot.</a:t>
            </a:r>
          </a:p>
        </p:txBody>
      </p:sp>
      <p:sp>
        <p:nvSpPr>
          <p:cNvPr id="4" name="">
            <a:extLst xmlns:a="http://schemas.openxmlformats.org/drawingml/2006/main">
              <a:ext uri="{FF2B5EF4-FFF2-40B4-BE49-F238E27FC236}">
                <a16:creationId xmlns:a16="http://schemas.microsoft.com/office/drawing/2014/main" id="{DA640072-4EAB-4CEA-8D2C-4589830F6A75}"/>
              </a:ext>
            </a:extLst>
          </p:cNvPr>
          <p:cNvSpPr>
            <a:spLocks xmlns:a="http://schemas.openxmlformats.org/drawingml/2006/main" noGrp="1"/>
          </p:cNvSpPr>
          <p:nvPr/>
        </p:nvSpPr>
        <p:spPr>
          <a:xfrm xmlns:a="http://schemas.openxmlformats.org/drawingml/2006/main">
            <a:off x="11334750" y="6334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B"/>
                </a:solidFill>
                <a:latin typeface="Arial"/>
                <a:ea typeface="Arial"/>
                <a:cs typeface="Arial"/>
              </a:defRPr>
            </a:pPr>
            <a:r>
              <a:rPr sz="1350" b="0">
                <a:solidFill>
                  <a:srgbClr val="52636B"/>
                </a:solidFill>
                <a:latin typeface="Arial"/>
                <a:ea typeface="Arial"/>
                <a:cs typeface="Arial"/>
              </a:rPr>
              <a:t>4</a:t>
            </a:r>
          </a:p>
        </p:txBody>
      </p:sp>
    </p:spTree>
    <p:extLst>
      <p:ext uri="{BB962C8B-B14F-4D97-AF65-F5344CB8AC3E}">
        <p14:creationId xmlns:p14="http://schemas.microsoft.com/office/powerpoint/2010/main" val="43005694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98B05F0-86BC-48AD-9243-5B22AD67B55E}"/>
              </a:ext>
            </a:extLst>
          </p:cNvPr>
          <p:cNvSpPr>
            <a:spLocks xmlns:a="http://schemas.openxmlformats.org/drawingml/2006/main" noGrp="1"/>
          </p:cNvSpPr>
          <p:nvPr/>
        </p:nvSpPr>
        <p:spPr>
          <a:xfrm xmlns:a="http://schemas.openxmlformats.org/drawingml/2006/main">
            <a:off x="609600" y="428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22C3A"/>
                </a:solidFill>
                <a:latin typeface="Arial"/>
                <a:ea typeface="Arial"/>
                <a:cs typeface="Arial"/>
              </a:defRPr>
            </a:pPr>
            <a:r>
              <a:rPr sz="3300" b="1">
                <a:solidFill>
                  <a:srgbClr val="122C3A"/>
                </a:solidFill>
                <a:latin typeface="Arial"/>
                <a:ea typeface="Arial"/>
                <a:cs typeface="Arial"/>
              </a:rPr>
              <a:t>Battery feasibility and causal observations</a:t>
            </a:r>
          </a:p>
        </p:txBody>
      </p:sp>
      <p:graphicFrame>
        <p:nvGraphicFramePr>
          <p:cNvPr id="8" name=""/>
          <p:cNvGraphicFramePr/>
          <p:nvPr/>
        </p:nvGraphicFramePr>
        <p:xfrm>
          <a:off xmlns:a="http://schemas.openxmlformats.org/drawingml/2006/main" x="609600" y="1704975"/>
          <a:ext xmlns:a="http://schemas.openxmlformats.org/drawingml/2006/main" cx="10972800" cy="3429000"/>
        </p:xfrm>
        <a:graphic xmlns:a="http://schemas.openxmlformats.org/drawingml/2006/main">
          <a:graphicData uri="http://schemas.openxmlformats.org/drawingml/2006/table">
            <a:tbl>
              <a:tblPr/>
              <a:tblGrid>
                <a:gridCol w="5486400"/>
                <a:gridCol w="5486400"/>
              </a:tblGrid>
              <a:tr h="571500">
                <a:tc>
                  <a:txBody>
                    <a:bodyPr/>
                    <a:lstStyle/>
                    <a:p>
                      <a:r>
                        <a:rPr sz="1875" b="1">
                          <a:solidFill>
                            <a:srgbClr val="FFFFFF"/>
                          </a:solidFill>
                          <a:latin typeface="Arial"/>
                          <a:ea typeface="Arial"/>
                          <a:cs typeface="Arial"/>
                        </a:rPr>
                        <a:t>Constraint</a:t>
                      </a:r>
                    </a:p>
                  </a:txBody>
                  <a:tcPr marL="142875" marR="142875" marT="95250" marB="95250">
                    <a:solidFill>
                      <a:srgbClr val="122C3A"/>
                    </a:solidFill>
                  </a:tcPr>
                </a:tc>
                <a:tc>
                  <a:txBody>
                    <a:bodyPr/>
                    <a:lstStyle/>
                    <a:p>
                      <a:r>
                        <a:rPr sz="1875" b="1">
                          <a:solidFill>
                            <a:srgbClr val="FFFFFF"/>
                          </a:solidFill>
                          <a:latin typeface="Arial"/>
                          <a:ea typeface="Arial"/>
                          <a:cs typeface="Arial"/>
                        </a:rPr>
                        <a:t>Implementation</a:t>
                      </a:r>
                    </a:p>
                  </a:txBody>
                  <a:tcPr marL="142875" marR="142875" marT="95250" marB="95250">
                    <a:solidFill>
                      <a:srgbClr val="122C3A"/>
                    </a:solidFill>
                  </a:tcPr>
                </a:tc>
              </a:tr>
              <a:tr h="571500">
                <a:tc>
                  <a:txBody>
                    <a:bodyPr/>
                    <a:lstStyle/>
                    <a:p>
                      <a:r>
                        <a:rPr sz="1875" b="0">
                          <a:solidFill>
                            <a:srgbClr val="122C3A"/>
                          </a:solidFill>
                          <a:latin typeface="Arial"/>
                          <a:ea typeface="Arial"/>
                          <a:cs typeface="Arial"/>
                        </a:rPr>
                        <a:t>Capacity and power</a:t>
                      </a:r>
                    </a:p>
                  </a:txBody>
                  <a:tcPr marL="142875" marR="142875" marT="95250" marB="95250">
                    <a:solidFill>
                      <a:srgbClr val="FFFFFF"/>
                    </a:solidFill>
                  </a:tcPr>
                </a:tc>
                <a:tc>
                  <a:txBody>
                    <a:bodyPr/>
                    <a:lstStyle/>
                    <a:p>
                      <a:r>
                        <a:rPr sz="1875" b="0">
                          <a:solidFill>
                            <a:srgbClr val="122C3A"/>
                          </a:solidFill>
                          <a:latin typeface="Arial"/>
                          <a:ea typeface="Arial"/>
                          <a:cs typeface="Arial"/>
                        </a:rPr>
                        <a:t>2 kWh nominal, 2 kW AC per household</a:t>
                      </a:r>
                    </a:p>
                  </a:txBody>
                  <a:tcPr marL="142875" marR="142875" marT="95250" marB="95250">
                    <a:solidFill>
                      <a:srgbClr val="FFFFFF"/>
                    </a:solidFill>
                  </a:tcPr>
                </a:tc>
              </a:tr>
              <a:tr h="571500">
                <a:tc>
                  <a:txBody>
                    <a:bodyPr/>
                    <a:lstStyle/>
                    <a:p>
                      <a:r>
                        <a:rPr sz="1875" b="0">
                          <a:solidFill>
                            <a:srgbClr val="122C3A"/>
                          </a:solidFill>
                          <a:latin typeface="Arial"/>
                          <a:ea typeface="Arial"/>
                          <a:cs typeface="Arial"/>
                        </a:rPr>
                        <a:t>Operating bounds</a:t>
                      </a:r>
                    </a:p>
                  </a:txBody>
                  <a:tcPr marL="142875" marR="142875" marT="95250" marB="95250">
                    <a:solidFill>
                      <a:srgbClr val="EFF5F5"/>
                    </a:solidFill>
                  </a:tcPr>
                </a:tc>
                <a:tc>
                  <a:txBody>
                    <a:bodyPr/>
                    <a:lstStyle/>
                    <a:p>
                      <a:r>
                        <a:rPr sz="1875" b="0">
                          <a:solidFill>
                            <a:srgbClr val="122C3A"/>
                          </a:solidFill>
                          <a:latin typeface="Arial"/>
                          <a:ea typeface="Arial"/>
                          <a:cs typeface="Arial"/>
                        </a:rPr>
                        <a:t>0.2–1.8 kWh, 95% charge/discharge efficiency</a:t>
                      </a:r>
                    </a:p>
                  </a:txBody>
                  <a:tcPr marL="142875" marR="142875" marT="95250" marB="95250">
                    <a:solidFill>
                      <a:srgbClr val="EFF5F5"/>
                    </a:solidFill>
                  </a:tcPr>
                </a:tc>
              </a:tr>
              <a:tr h="571500">
                <a:tc>
                  <a:txBody>
                    <a:bodyPr/>
                    <a:lstStyle/>
                    <a:p>
                      <a:r>
                        <a:rPr sz="1875" b="0">
                          <a:solidFill>
                            <a:srgbClr val="122C3A"/>
                          </a:solidFill>
                          <a:latin typeface="Arial"/>
                          <a:ea typeface="Arial"/>
                          <a:cs typeface="Arial"/>
                        </a:rPr>
                        <a:t>Boundary condition</a:t>
                      </a:r>
                    </a:p>
                  </a:txBody>
                  <a:tcPr marL="142875" marR="142875" marT="95250" marB="95250">
                    <a:solidFill>
                      <a:srgbClr val="FFFFFF"/>
                    </a:solidFill>
                  </a:tcPr>
                </a:tc>
                <a:tc>
                  <a:txBody>
                    <a:bodyPr/>
                    <a:lstStyle/>
                    <a:p>
                      <a:r>
                        <a:rPr sz="1875" b="0">
                          <a:solidFill>
                            <a:srgbClr val="122C3A"/>
                          </a:solidFill>
                          <a:latin typeface="Arial"/>
                          <a:ea typeface="Arial"/>
                          <a:cs typeface="Arial"/>
                        </a:rPr>
                        <a:t>Every episode starts and finishes at 1 kWh</a:t>
                      </a:r>
                    </a:p>
                  </a:txBody>
                  <a:tcPr marL="142875" marR="142875" marT="95250" marB="95250">
                    <a:solidFill>
                      <a:srgbClr val="FFFFFF"/>
                    </a:solidFill>
                  </a:tcPr>
                </a:tc>
              </a:tr>
              <a:tr h="571500">
                <a:tc>
                  <a:txBody>
                    <a:bodyPr/>
                    <a:lstStyle/>
                    <a:p>
                      <a:r>
                        <a:rPr sz="1875" b="0">
                          <a:solidFill>
                            <a:srgbClr val="122C3A"/>
                          </a:solidFill>
                          <a:latin typeface="Arial"/>
                          <a:ea typeface="Arial"/>
                          <a:cs typeface="Arial"/>
                        </a:rPr>
                        <a:t>Available information</a:t>
                      </a:r>
                    </a:p>
                  </a:txBody>
                  <a:tcPr marL="142875" marR="142875" marT="95250" marB="95250">
                    <a:solidFill>
                      <a:srgbClr val="EFF5F5"/>
                    </a:solidFill>
                  </a:tcPr>
                </a:tc>
                <a:tc>
                  <a:txBody>
                    <a:bodyPr/>
                    <a:lstStyle/>
                    <a:p>
                      <a:r>
                        <a:rPr sz="1875" b="0">
                          <a:solidFill>
                            <a:srgbClr val="122C3A"/>
                          </a:solidFill>
                          <a:latin typeface="Arial"/>
                          <a:ea typeface="Arial"/>
                          <a:cs typeface="Arial"/>
                        </a:rPr>
                        <a:t>Previous net load, current SOC, clock and known tariff</a:t>
                      </a:r>
                    </a:p>
                  </a:txBody>
                  <a:tcPr marL="142875" marR="142875" marT="95250" marB="95250">
                    <a:solidFill>
                      <a:srgbClr val="EFF5F5"/>
                    </a:solidFill>
                  </a:tcPr>
                </a:tc>
              </a:tr>
              <a:tr h="571500">
                <a:tc>
                  <a:txBody>
                    <a:bodyPr/>
                    <a:lstStyle/>
                    <a:p>
                      <a:r>
                        <a:rPr sz="1875" b="0">
                          <a:solidFill>
                            <a:srgbClr val="122C3A"/>
                          </a:solidFill>
                          <a:latin typeface="Arial"/>
                          <a:ea typeface="Arial"/>
                          <a:cs typeface="Arial"/>
                        </a:rPr>
                        <a:t>Action protection</a:t>
                      </a:r>
                    </a:p>
                  </a:txBody>
                  <a:tcPr marL="142875" marR="142875" marT="95250" marB="95250">
                    <a:solidFill>
                      <a:srgbClr val="FFFFFF"/>
                    </a:solidFill>
                  </a:tcPr>
                </a:tc>
                <a:tc>
                  <a:txBody>
                    <a:bodyPr/>
                    <a:lstStyle/>
                    <a:p>
                      <a:r>
                        <a:rPr sz="1875" b="0">
                          <a:solidFill>
                            <a:srgbClr val="122C3A"/>
                          </a:solidFill>
                          <a:latin typeface="Arial"/>
                          <a:ea typeface="Arial"/>
                          <a:cs typeface="Arial"/>
                        </a:rPr>
                        <a:t>Power, SOC and terminal-reachability projection</a:t>
                      </a:r>
                    </a:p>
                  </a:txBody>
                  <a:tcPr marL="142875" marR="142875" marT="95250" marB="9525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A7382F8A-9EA8-43FB-9A75-1E0E2004820F}"/>
              </a:ext>
            </a:extLst>
          </p:cNvPr>
          <p:cNvSpPr>
            <a:spLocks xmlns:a="http://schemas.openxmlformats.org/drawingml/2006/main" noGrp="1"/>
          </p:cNvSpPr>
          <p:nvPr/>
        </p:nvSpPr>
        <p:spPr>
          <a:xfrm xmlns:a="http://schemas.openxmlformats.org/drawingml/2006/main">
            <a:off x="647700" y="5695950"/>
            <a:ext cx="10525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B"/>
                </a:solidFill>
                <a:latin typeface="Arial"/>
                <a:ea typeface="Arial"/>
                <a:cs typeface="Arial"/>
              </a:defRPr>
            </a:pPr>
            <a:r>
              <a:rPr sz="1650" b="0">
                <a:solidFill>
                  <a:srgbClr val="52636B"/>
                </a:solidFill>
                <a:latin typeface="Arial"/>
                <a:ea typeface="Arial"/>
                <a:cs typeface="Arial"/>
              </a:rPr>
              <a:t>Terminal restoration has a cost. No controller receives free energy at an episode reset.</a:t>
            </a:r>
          </a:p>
        </p:txBody>
      </p:sp>
      <p:sp>
        <p:nvSpPr>
          <p:cNvPr id="4" name="">
            <a:extLst xmlns:a="http://schemas.openxmlformats.org/drawingml/2006/main">
              <a:ext uri="{FF2B5EF4-FFF2-40B4-BE49-F238E27FC236}">
                <a16:creationId xmlns:a16="http://schemas.microsoft.com/office/drawing/2014/main" id="{DBBDE906-BB28-43C1-A162-DACBD0B09BC2}"/>
              </a:ext>
            </a:extLst>
          </p:cNvPr>
          <p:cNvSpPr>
            <a:spLocks xmlns:a="http://schemas.openxmlformats.org/drawingml/2006/main" noGrp="1"/>
          </p:cNvSpPr>
          <p:nvPr/>
        </p:nvSpPr>
        <p:spPr>
          <a:xfrm xmlns:a="http://schemas.openxmlformats.org/drawingml/2006/main">
            <a:off x="11334750" y="6334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B"/>
                </a:solidFill>
                <a:latin typeface="Arial"/>
                <a:ea typeface="Arial"/>
                <a:cs typeface="Arial"/>
              </a:defRPr>
            </a:pPr>
            <a:r>
              <a:rPr sz="1350" b="0">
                <a:solidFill>
                  <a:srgbClr val="52636B"/>
                </a:solidFill>
                <a:latin typeface="Arial"/>
                <a:ea typeface="Arial"/>
                <a:cs typeface="Arial"/>
              </a:rPr>
              <a:t>5</a:t>
            </a:r>
          </a:p>
        </p:txBody>
      </p:sp>
    </p:spTree>
    <p:extLst>
      <p:ext uri="{BB962C8B-B14F-4D97-AF65-F5344CB8AC3E}">
        <p14:creationId xmlns:p14="http://schemas.microsoft.com/office/powerpoint/2010/main" val="202197128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5908653-C3C3-4213-A68E-4494EF3D39C9}"/>
              </a:ext>
            </a:extLst>
          </p:cNvPr>
          <p:cNvSpPr>
            <a:spLocks xmlns:a="http://schemas.openxmlformats.org/drawingml/2006/main" noGrp="1"/>
          </p:cNvSpPr>
          <p:nvPr/>
        </p:nvSpPr>
        <p:spPr>
          <a:xfrm xmlns:a="http://schemas.openxmlformats.org/drawingml/2006/main">
            <a:off x="609600" y="428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22C3A"/>
                </a:solidFill>
                <a:latin typeface="Arial"/>
                <a:ea typeface="Arial"/>
                <a:cs typeface="Arial"/>
              </a:defRPr>
            </a:pPr>
            <a:r>
              <a:rPr sz="3300" b="1">
                <a:solidFill>
                  <a:srgbClr val="122C3A"/>
                </a:solidFill>
                <a:latin typeface="Arial"/>
                <a:ea typeface="Arial"/>
                <a:cs typeface="Arial"/>
              </a:rPr>
              <a:t>Learning comparison and training budget</a:t>
            </a:r>
          </a:p>
        </p:txBody>
      </p:sp>
      <p:graphicFrame>
        <p:nvGraphicFramePr>
          <p:cNvPr id="8" name=""/>
          <p:cNvGraphicFramePr/>
          <p:nvPr/>
        </p:nvGraphicFramePr>
        <p:xfrm>
          <a:off xmlns:a="http://schemas.openxmlformats.org/drawingml/2006/main" x="609600" y="1704975"/>
          <a:ext xmlns:a="http://schemas.openxmlformats.org/drawingml/2006/main" cx="10972800" cy="3429000"/>
        </p:xfrm>
        <a:graphic xmlns:a="http://schemas.openxmlformats.org/drawingml/2006/main">
          <a:graphicData uri="http://schemas.openxmlformats.org/drawingml/2006/table">
            <a:tbl>
              <a:tblPr/>
              <a:tblGrid>
                <a:gridCol w="3657600"/>
                <a:gridCol w="3657600"/>
                <a:gridCol w="3657600"/>
              </a:tblGrid>
              <a:tr h="571500">
                <a:tc>
                  <a:txBody>
                    <a:bodyPr/>
                    <a:lstStyle/>
                    <a:p>
                      <a:r>
                        <a:rPr sz="1800" b="1">
                          <a:solidFill>
                            <a:srgbClr val="FFFFFF"/>
                          </a:solidFill>
                          <a:latin typeface="Arial"/>
                          <a:ea typeface="Arial"/>
                          <a:cs typeface="Arial"/>
                        </a:rPr>
                        <a:t>Setting</a:t>
                      </a:r>
                    </a:p>
                  </a:txBody>
                  <a:tcPr marL="142875" marR="142875" marT="95250" marB="95250">
                    <a:solidFill>
                      <a:srgbClr val="122C3A"/>
                    </a:solidFill>
                  </a:tcPr>
                </a:tc>
                <a:tc>
                  <a:txBody>
                    <a:bodyPr/>
                    <a:lstStyle/>
                    <a:p>
                      <a:r>
                        <a:rPr sz="1800" b="1">
                          <a:solidFill>
                            <a:srgbClr val="FFFFFF"/>
                          </a:solidFill>
                          <a:latin typeface="Arial"/>
                          <a:ea typeface="Arial"/>
                          <a:cs typeface="Arial"/>
                        </a:rPr>
                        <a:t>IPPO</a:t>
                      </a:r>
                    </a:p>
                  </a:txBody>
                  <a:tcPr marL="142875" marR="142875" marT="95250" marB="95250">
                    <a:solidFill>
                      <a:srgbClr val="122C3A"/>
                    </a:solidFill>
                  </a:tcPr>
                </a:tc>
                <a:tc>
                  <a:txBody>
                    <a:bodyPr/>
                    <a:lstStyle/>
                    <a:p>
                      <a:r>
                        <a:rPr sz="1800" b="1">
                          <a:solidFill>
                            <a:srgbClr val="FFFFFF"/>
                          </a:solidFill>
                          <a:latin typeface="Arial"/>
                          <a:ea typeface="Arial"/>
                          <a:cs typeface="Arial"/>
                        </a:rPr>
                        <a:t>MAPPO</a:t>
                      </a:r>
                    </a:p>
                  </a:txBody>
                  <a:tcPr marL="142875" marR="142875" marT="95250" marB="95250">
                    <a:solidFill>
                      <a:srgbClr val="122C3A"/>
                    </a:solidFill>
                  </a:tcPr>
                </a:tc>
              </a:tr>
              <a:tr h="571500">
                <a:tc>
                  <a:txBody>
                    <a:bodyPr/>
                    <a:lstStyle/>
                    <a:p>
                      <a:r>
                        <a:rPr sz="1800" b="0">
                          <a:solidFill>
                            <a:srgbClr val="122C3A"/>
                          </a:solidFill>
                          <a:latin typeface="Arial"/>
                          <a:ea typeface="Arial"/>
                          <a:cs typeface="Arial"/>
                        </a:rPr>
                        <a:t>Actor at execution</a:t>
                      </a:r>
                    </a:p>
                  </a:txBody>
                  <a:tcPr marL="142875" marR="142875" marT="95250" marB="95250">
                    <a:solidFill>
                      <a:srgbClr val="FFFFFF"/>
                    </a:solidFill>
                  </a:tcPr>
                </a:tc>
                <a:tc>
                  <a:txBody>
                    <a:bodyPr/>
                    <a:lstStyle/>
                    <a:p>
                      <a:r>
                        <a:rPr sz="1800" b="0">
                          <a:solidFill>
                            <a:srgbClr val="122C3A"/>
                          </a:solidFill>
                          <a:latin typeface="Arial"/>
                          <a:ea typeface="Arial"/>
                          <a:cs typeface="Arial"/>
                        </a:rPr>
                        <a:t>Local, shared parameters</a:t>
                      </a:r>
                    </a:p>
                  </a:txBody>
                  <a:tcPr marL="142875" marR="142875" marT="95250" marB="95250">
                    <a:solidFill>
                      <a:srgbClr val="FFFFFF"/>
                    </a:solidFill>
                  </a:tcPr>
                </a:tc>
                <a:tc>
                  <a:txBody>
                    <a:bodyPr/>
                    <a:lstStyle/>
                    <a:p>
                      <a:r>
                        <a:rPr sz="1800" b="0">
                          <a:solidFill>
                            <a:srgbClr val="122C3A"/>
                          </a:solidFill>
                          <a:latin typeface="Arial"/>
                          <a:ea typeface="Arial"/>
                          <a:cs typeface="Arial"/>
                        </a:rPr>
                        <a:t>Local, shared parameters</a:t>
                      </a:r>
                    </a:p>
                  </a:txBody>
                  <a:tcPr marL="142875" marR="142875" marT="95250" marB="95250">
                    <a:solidFill>
                      <a:srgbClr val="FFFFFF"/>
                    </a:solidFill>
                  </a:tcPr>
                </a:tc>
              </a:tr>
              <a:tr h="571500">
                <a:tc>
                  <a:txBody>
                    <a:bodyPr/>
                    <a:lstStyle/>
                    <a:p>
                      <a:r>
                        <a:rPr sz="1800" b="0">
                          <a:solidFill>
                            <a:srgbClr val="122C3A"/>
                          </a:solidFill>
                          <a:latin typeface="Arial"/>
                          <a:ea typeface="Arial"/>
                          <a:cs typeface="Arial"/>
                        </a:rPr>
                        <a:t>Critic during training</a:t>
                      </a:r>
                    </a:p>
                  </a:txBody>
                  <a:tcPr marL="142875" marR="142875" marT="95250" marB="95250">
                    <a:solidFill>
                      <a:srgbClr val="EFF5F5"/>
                    </a:solidFill>
                  </a:tcPr>
                </a:tc>
                <a:tc>
                  <a:txBody>
                    <a:bodyPr/>
                    <a:lstStyle/>
                    <a:p>
                      <a:r>
                        <a:rPr sz="1800" b="0">
                          <a:solidFill>
                            <a:srgbClr val="122C3A"/>
                          </a:solidFill>
                          <a:latin typeface="Arial"/>
                          <a:ea typeface="Arial"/>
                          <a:cs typeface="Arial"/>
                        </a:rPr>
                        <a:t>Local observations</a:t>
                      </a:r>
                    </a:p>
                  </a:txBody>
                  <a:tcPr marL="142875" marR="142875" marT="95250" marB="95250">
                    <a:solidFill>
                      <a:srgbClr val="EFF5F5"/>
                    </a:solidFill>
                  </a:tcPr>
                </a:tc>
                <a:tc>
                  <a:txBody>
                    <a:bodyPr/>
                    <a:lstStyle/>
                    <a:p>
                      <a:r>
                        <a:rPr sz="1800" b="0">
                          <a:solidFill>
                            <a:srgbClr val="122C3A"/>
                          </a:solidFill>
                          <a:latin typeface="Arial"/>
                          <a:ea typeface="Arial"/>
                          <a:cs typeface="Arial"/>
                        </a:rPr>
                        <a:t>All household observations</a:t>
                      </a:r>
                    </a:p>
                  </a:txBody>
                  <a:tcPr marL="142875" marR="142875" marT="95250" marB="95250">
                    <a:solidFill>
                      <a:srgbClr val="EFF5F5"/>
                    </a:solidFill>
                  </a:tcPr>
                </a:tc>
              </a:tr>
              <a:tr h="571500">
                <a:tc>
                  <a:txBody>
                    <a:bodyPr/>
                    <a:lstStyle/>
                    <a:p>
                      <a:r>
                        <a:rPr sz="1800" b="0">
                          <a:solidFill>
                            <a:srgbClr val="122C3A"/>
                          </a:solidFill>
                          <a:latin typeface="Arial"/>
                          <a:ea typeface="Arial"/>
                          <a:cs typeface="Arial"/>
                        </a:rPr>
                        <a:t>Reward</a:t>
                      </a:r>
                    </a:p>
                  </a:txBody>
                  <a:tcPr marL="142875" marR="142875" marT="95250" marB="95250">
                    <a:solidFill>
                      <a:srgbClr val="FFFFFF"/>
                    </a:solidFill>
                  </a:tcPr>
                </a:tc>
                <a:tc>
                  <a:txBody>
                    <a:bodyPr/>
                    <a:lstStyle/>
                    <a:p>
                      <a:r>
                        <a:rPr sz="1800" b="0">
                          <a:solidFill>
                            <a:srgbClr val="122C3A"/>
                          </a:solidFill>
                          <a:latin typeface="Arial"/>
                          <a:ea typeface="Arial"/>
                          <a:cs typeface="Arial"/>
                        </a:rPr>
                        <a:t>Mean community incremental savings</a:t>
                      </a:r>
                    </a:p>
                  </a:txBody>
                  <a:tcPr marL="142875" marR="142875" marT="95250" marB="95250">
                    <a:solidFill>
                      <a:srgbClr val="FFFFFF"/>
                    </a:solidFill>
                  </a:tcPr>
                </a:tc>
                <a:tc>
                  <a:txBody>
                    <a:bodyPr/>
                    <a:lstStyle/>
                    <a:p>
                      <a:r>
                        <a:rPr sz="1800" b="0">
                          <a:solidFill>
                            <a:srgbClr val="122C3A"/>
                          </a:solidFill>
                          <a:latin typeface="Arial"/>
                          <a:ea typeface="Arial"/>
                          <a:cs typeface="Arial"/>
                        </a:rPr>
                        <a:t>Same reward</a:t>
                      </a:r>
                    </a:p>
                  </a:txBody>
                  <a:tcPr marL="142875" marR="142875" marT="95250" marB="95250">
                    <a:solidFill>
                      <a:srgbClr val="FFFFFF"/>
                    </a:solidFill>
                  </a:tcPr>
                </a:tc>
              </a:tr>
              <a:tr h="571500">
                <a:tc>
                  <a:txBody>
                    <a:bodyPr/>
                    <a:lstStyle/>
                    <a:p>
                      <a:r>
                        <a:rPr sz="1800" b="0">
                          <a:solidFill>
                            <a:srgbClr val="122C3A"/>
                          </a:solidFill>
                          <a:latin typeface="Arial"/>
                          <a:ea typeface="Arial"/>
                          <a:cs typeface="Arial"/>
                        </a:rPr>
                        <a:t>Random seeds</a:t>
                      </a:r>
                    </a:p>
                  </a:txBody>
                  <a:tcPr marL="142875" marR="142875" marT="95250" marB="95250">
                    <a:solidFill>
                      <a:srgbClr val="EFF5F5"/>
                    </a:solidFill>
                  </a:tcPr>
                </a:tc>
                <a:tc>
                  <a:txBody>
                    <a:bodyPr/>
                    <a:lstStyle/>
                    <a:p>
                      <a:r>
                        <a:rPr sz="1800" b="0">
                          <a:solidFill>
                            <a:srgbClr val="122C3A"/>
                          </a:solidFill>
                          <a:latin typeface="Arial"/>
                          <a:ea typeface="Arial"/>
                          <a:cs typeface="Arial"/>
                        </a:rPr>
                        <a:t>11, 22, 33, 44, 55</a:t>
                      </a:r>
                    </a:p>
                  </a:txBody>
                  <a:tcPr marL="142875" marR="142875" marT="95250" marB="95250">
                    <a:solidFill>
                      <a:srgbClr val="EFF5F5"/>
                    </a:solidFill>
                  </a:tcPr>
                </a:tc>
                <a:tc>
                  <a:txBody>
                    <a:bodyPr/>
                    <a:lstStyle/>
                    <a:p>
                      <a:r>
                        <a:rPr sz="1800" b="0">
                          <a:solidFill>
                            <a:srgbClr val="122C3A"/>
                          </a:solidFill>
                          <a:latin typeface="Arial"/>
                          <a:ea typeface="Arial"/>
                          <a:cs typeface="Arial"/>
                        </a:rPr>
                        <a:t>Same five seeds</a:t>
                      </a:r>
                    </a:p>
                  </a:txBody>
                  <a:tcPr marL="142875" marR="142875" marT="95250" marB="95250">
                    <a:solidFill>
                      <a:srgbClr val="EFF5F5"/>
                    </a:solidFill>
                  </a:tcPr>
                </a:tc>
              </a:tr>
              <a:tr h="571500">
                <a:tc>
                  <a:txBody>
                    <a:bodyPr/>
                    <a:lstStyle/>
                    <a:p>
                      <a:r>
                        <a:rPr sz="1800" b="0">
                          <a:solidFill>
                            <a:srgbClr val="122C3A"/>
                          </a:solidFill>
                          <a:latin typeface="Arial"/>
                          <a:ea typeface="Arial"/>
                          <a:cs typeface="Arial"/>
                        </a:rPr>
                        <a:t>Budget per seed</a:t>
                      </a:r>
                    </a:p>
                  </a:txBody>
                  <a:tcPr marL="142875" marR="142875" marT="95250" marB="95250">
                    <a:solidFill>
                      <a:srgbClr val="FFFFFF"/>
                    </a:solidFill>
                  </a:tcPr>
                </a:tc>
                <a:tc>
                  <a:txBody>
                    <a:bodyPr/>
                    <a:lstStyle/>
                    <a:p>
                      <a:r>
                        <a:rPr sz="1800" b="0">
                          <a:solidFill>
                            <a:srgbClr val="122C3A"/>
                          </a:solidFill>
                          <a:latin typeface="Arial"/>
                          <a:ea typeface="Arial"/>
                          <a:cs typeface="Arial"/>
                        </a:rPr>
                        <a:t>11,520 joint steps</a:t>
                      </a:r>
                    </a:p>
                  </a:txBody>
                  <a:tcPr marL="142875" marR="142875" marT="95250" marB="95250">
                    <a:solidFill>
                      <a:srgbClr val="FFFFFF"/>
                    </a:solidFill>
                  </a:tcPr>
                </a:tc>
                <a:tc>
                  <a:txBody>
                    <a:bodyPr/>
                    <a:lstStyle/>
                    <a:p>
                      <a:r>
                        <a:rPr sz="1800" b="0">
                          <a:solidFill>
                            <a:srgbClr val="122C3A"/>
                          </a:solidFill>
                          <a:latin typeface="Arial"/>
                          <a:ea typeface="Arial"/>
                          <a:cs typeface="Arial"/>
                        </a:rPr>
                        <a:t>11,520 joint steps</a:t>
                      </a:r>
                    </a:p>
                  </a:txBody>
                  <a:tcPr marL="142875" marR="142875" marT="95250" marB="9525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2202B2E1-0446-4315-A851-603FDAA36E46}"/>
              </a:ext>
            </a:extLst>
          </p:cNvPr>
          <p:cNvSpPr>
            <a:spLocks xmlns:a="http://schemas.openxmlformats.org/drawingml/2006/main" noGrp="1"/>
          </p:cNvSpPr>
          <p:nvPr/>
        </p:nvSpPr>
        <p:spPr>
          <a:xfrm xmlns:a="http://schemas.openxmlformats.org/drawingml/2006/main">
            <a:off x="647700" y="5695950"/>
            <a:ext cx="10525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B"/>
                </a:solidFill>
                <a:latin typeface="Arial"/>
                <a:ea typeface="Arial"/>
                <a:cs typeface="Arial"/>
              </a:defRPr>
            </a:pPr>
            <a:r>
              <a:rPr sz="1650" b="0">
                <a:solidFill>
                  <a:srgbClr val="52636B"/>
                </a:solidFill>
                <a:latin typeface="Arial"/>
                <a:ea typeface="Arial"/>
                <a:cs typeface="Arial"/>
              </a:rPr>
              <a:t>Original 60-update protocol. The follow-up varies actions, budget and reward.</a:t>
            </a:r>
          </a:p>
        </p:txBody>
      </p:sp>
      <p:sp>
        <p:nvSpPr>
          <p:cNvPr id="4" name="">
            <a:extLst xmlns:a="http://schemas.openxmlformats.org/drawingml/2006/main">
              <a:ext uri="{FF2B5EF4-FFF2-40B4-BE49-F238E27FC236}">
                <a16:creationId xmlns:a16="http://schemas.microsoft.com/office/drawing/2014/main" id="{E53BA9CD-04D7-49F6-AF85-F932C4DFBA53}"/>
              </a:ext>
            </a:extLst>
          </p:cNvPr>
          <p:cNvSpPr>
            <a:spLocks xmlns:a="http://schemas.openxmlformats.org/drawingml/2006/main" noGrp="1"/>
          </p:cNvSpPr>
          <p:nvPr/>
        </p:nvSpPr>
        <p:spPr>
          <a:xfrm xmlns:a="http://schemas.openxmlformats.org/drawingml/2006/main">
            <a:off x="11334750" y="6334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B"/>
                </a:solidFill>
                <a:latin typeface="Arial"/>
                <a:ea typeface="Arial"/>
                <a:cs typeface="Arial"/>
              </a:defRPr>
            </a:pPr>
            <a:r>
              <a:rPr sz="1350" b="0">
                <a:solidFill>
                  <a:srgbClr val="52636B"/>
                </a:solidFill>
                <a:latin typeface="Arial"/>
                <a:ea typeface="Arial"/>
                <a:cs typeface="Arial"/>
              </a:rPr>
              <a:t>6</a:t>
            </a:r>
          </a:p>
        </p:txBody>
      </p:sp>
    </p:spTree>
    <p:extLst>
      <p:ext uri="{BB962C8B-B14F-4D97-AF65-F5344CB8AC3E}">
        <p14:creationId xmlns:p14="http://schemas.microsoft.com/office/powerpoint/2010/main" val="44643685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42A301A-865D-4821-9161-E6797A123E04}"/>
              </a:ext>
            </a:extLst>
          </p:cNvPr>
          <p:cNvSpPr>
            <a:spLocks xmlns:a="http://schemas.openxmlformats.org/drawingml/2006/main" noGrp="1"/>
          </p:cNvSpPr>
          <p:nvPr/>
        </p:nvSpPr>
        <p:spPr>
          <a:xfrm xmlns:a="http://schemas.openxmlformats.org/drawingml/2006/main">
            <a:off x="609600" y="428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22C3A"/>
                </a:solidFill>
                <a:latin typeface="Arial"/>
                <a:ea typeface="Arial"/>
                <a:cs typeface="Arial"/>
              </a:defRPr>
            </a:pPr>
            <a:r>
              <a:rPr sz="3300" b="1">
                <a:solidFill>
                  <a:srgbClr val="122C3A"/>
                </a:solidFill>
                <a:latin typeface="Arial"/>
                <a:ea typeface="Arial"/>
                <a:cs typeface="Arial"/>
              </a:rPr>
              <a:t>Original control comparison at 60 updates</a:t>
            </a:r>
          </a:p>
        </p:txBody>
      </p:sp>
      <p:graphicFrame>
        <p:nvGraphicFramePr>
          <p:cNvPr id="8" name="Chart"/>
          <p:cNvGraphicFramePr/>
          <p:nvPr/>
        </p:nvGraphicFramePr>
        <p:xfrm>
          <a:off xmlns:a="http://schemas.openxmlformats.org/drawingml/2006/main" x="590550" y="1619250"/>
          <a:ext xmlns:a="http://schemas.openxmlformats.org/drawingml/2006/main" cx="10953750" cy="3733800"/>
        </p:xfrm>
        <a:graphic xmlns:a="http://schemas.openxmlformats.org/drawingml/2006/main">
          <a:graphicData uri="http://schemas.openxmlformats.org/drawingml/2006/chart">
            <c:chart xmlns:r="http://schemas.openxmlformats.org/officeDocument/2006/relationships" xmlns:c="http://schemas.openxmlformats.org/drawingml/2006/chart" r:id="R2e4d5510807d49ce"/>
          </a:graphicData>
        </a:graphic>
      </p:graphicFrame>
      <p:sp>
        <p:nvSpPr>
          <p:cNvPr id="3" name="">
            <a:extLst xmlns:a="http://schemas.openxmlformats.org/drawingml/2006/main">
              <a:ext uri="{FF2B5EF4-FFF2-40B4-BE49-F238E27FC236}">
                <a16:creationId xmlns:a16="http://schemas.microsoft.com/office/drawing/2014/main" id="{C76CDF7C-762A-4A29-9997-7C124ABC4650}"/>
              </a:ext>
            </a:extLst>
          </p:cNvPr>
          <p:cNvSpPr>
            <a:spLocks xmlns:a="http://schemas.openxmlformats.org/drawingml/2006/main" noGrp="1"/>
          </p:cNvSpPr>
          <p:nvPr/>
        </p:nvSpPr>
        <p:spPr>
          <a:xfrm xmlns:a="http://schemas.openxmlformats.org/drawingml/2006/main">
            <a:off x="647700" y="5695950"/>
            <a:ext cx="10525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B"/>
                </a:solidFill>
                <a:latin typeface="Arial"/>
                <a:ea typeface="Arial"/>
                <a:cs typeface="Arial"/>
              </a:defRPr>
            </a:pPr>
            <a:r>
              <a:rPr sz="1650" b="0">
                <a:solidFill>
                  <a:srgbClr val="52636B"/>
                </a:solidFill>
                <a:latin typeface="Arial"/>
                <a:ea typeface="Arial"/>
                <a:cs typeface="Arial"/>
              </a:rPr>
              <a:t>EUR over the same 44 episodes. IPPO/MAPPO bars show five-seed means. Seed SD: 19.51 / 22.42 EUR.</a:t>
            </a:r>
          </a:p>
        </p:txBody>
      </p:sp>
      <p:sp>
        <p:nvSpPr>
          <p:cNvPr id="4" name="">
            <a:extLst xmlns:a="http://schemas.openxmlformats.org/drawingml/2006/main">
              <a:ext uri="{FF2B5EF4-FFF2-40B4-BE49-F238E27FC236}">
                <a16:creationId xmlns:a16="http://schemas.microsoft.com/office/drawing/2014/main" id="{E9218CE4-D390-4E2A-8412-9527F83A1C7A}"/>
              </a:ext>
            </a:extLst>
          </p:cNvPr>
          <p:cNvSpPr>
            <a:spLocks xmlns:a="http://schemas.openxmlformats.org/drawingml/2006/main" noGrp="1"/>
          </p:cNvSpPr>
          <p:nvPr/>
        </p:nvSpPr>
        <p:spPr>
          <a:xfrm xmlns:a="http://schemas.openxmlformats.org/drawingml/2006/main">
            <a:off x="11334750" y="6334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B"/>
                </a:solidFill>
                <a:latin typeface="Arial"/>
                <a:ea typeface="Arial"/>
                <a:cs typeface="Arial"/>
              </a:defRPr>
            </a:pPr>
            <a:r>
              <a:rPr sz="1350" b="0">
                <a:solidFill>
                  <a:srgbClr val="52636B"/>
                </a:solidFill>
                <a:latin typeface="Arial"/>
                <a:ea typeface="Arial"/>
                <a:cs typeface="Arial"/>
              </a:rPr>
              <a:t>7</a:t>
            </a:r>
          </a:p>
        </p:txBody>
      </p:sp>
    </p:spTree>
    <p:extLst>
      <p:ext uri="{BB962C8B-B14F-4D97-AF65-F5344CB8AC3E}">
        <p14:creationId xmlns:p14="http://schemas.microsoft.com/office/powerpoint/2010/main" val="151027595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1E1AD0B-9C4E-44B8-83FF-AD9556BA03C1}"/>
              </a:ext>
            </a:extLst>
          </p:cNvPr>
          <p:cNvSpPr>
            <a:spLocks xmlns:a="http://schemas.openxmlformats.org/drawingml/2006/main" noGrp="1"/>
          </p:cNvSpPr>
          <p:nvPr/>
        </p:nvSpPr>
        <p:spPr>
          <a:xfrm xmlns:a="http://schemas.openxmlformats.org/drawingml/2006/main">
            <a:off x="609600" y="428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22C3A"/>
                </a:solidFill>
                <a:latin typeface="Arial"/>
                <a:ea typeface="Arial"/>
                <a:cs typeface="Arial"/>
              </a:defRPr>
            </a:pPr>
            <a:r>
              <a:rPr sz="3300" b="1">
                <a:solidFill>
                  <a:srgbClr val="122C3A"/>
                </a:solidFill>
                <a:latin typeface="Arial"/>
                <a:ea typeface="Arial"/>
                <a:cs typeface="Arial"/>
              </a:rPr>
              <a:t>Efficiency and fairness can rank policies differently</a:t>
            </a:r>
          </a:p>
        </p:txBody>
      </p:sp>
      <p:graphicFrame>
        <p:nvGraphicFramePr>
          <p:cNvPr id="8" name=""/>
          <p:cNvGraphicFramePr/>
          <p:nvPr/>
        </p:nvGraphicFramePr>
        <p:xfrm>
          <a:off xmlns:a="http://schemas.openxmlformats.org/drawingml/2006/main" x="609600" y="1704975"/>
          <a:ext xmlns:a="http://schemas.openxmlformats.org/drawingml/2006/main" cx="10972800" cy="3429000"/>
        </p:xfrm>
        <a:graphic xmlns:a="http://schemas.openxmlformats.org/drawingml/2006/main">
          <a:graphicData uri="http://schemas.openxmlformats.org/drawingml/2006/table">
            <a:tbl>
              <a:tblPr/>
              <a:tblGrid>
                <a:gridCol w="3657600"/>
                <a:gridCol w="3657600"/>
                <a:gridCol w="3657600"/>
              </a:tblGrid>
              <a:tr h="857250">
                <a:tc>
                  <a:txBody>
                    <a:bodyPr/>
                    <a:lstStyle/>
                    <a:p>
                      <a:r>
                        <a:rPr sz="1800" b="1">
                          <a:solidFill>
                            <a:srgbClr val="FFFFFF"/>
                          </a:solidFill>
                          <a:latin typeface="Arial"/>
                          <a:ea typeface="Arial"/>
                          <a:cs typeface="Arial"/>
                        </a:rPr>
                        <a:t>Allocation method</a:t>
                      </a:r>
                    </a:p>
                  </a:txBody>
                  <a:tcPr marL="142875" marR="142875" marT="95250" marB="95250">
                    <a:solidFill>
                      <a:srgbClr val="122C3A"/>
                    </a:solidFill>
                  </a:tcPr>
                </a:tc>
                <a:tc>
                  <a:txBody>
                    <a:bodyPr/>
                    <a:lstStyle/>
                    <a:p>
                      <a:r>
                        <a:rPr sz="1800" b="1">
                          <a:solidFill>
                            <a:srgbClr val="FFFFFF"/>
                          </a:solidFill>
                          <a:latin typeface="Arial"/>
                          <a:ea typeface="Arial"/>
                          <a:cs typeface="Arial"/>
                        </a:rPr>
                        <a:t>Savings EUR</a:t>
                      </a:r>
                    </a:p>
                  </a:txBody>
                  <a:tcPr marL="142875" marR="142875" marT="95250" marB="95250">
                    <a:solidFill>
                      <a:srgbClr val="122C3A"/>
                    </a:solidFill>
                  </a:tcPr>
                </a:tc>
                <a:tc>
                  <a:txBody>
                    <a:bodyPr/>
                    <a:lstStyle/>
                    <a:p>
                      <a:r>
                        <a:rPr sz="1800" b="1">
                          <a:solidFill>
                            <a:srgbClr val="FFFFFF"/>
                          </a:solidFill>
                          <a:latin typeface="Arial"/>
                          <a:ea typeface="Arial"/>
                          <a:cs typeface="Arial"/>
                        </a:rPr>
                        <a:t>Mean daily normalized Jain</a:t>
                      </a:r>
                    </a:p>
                  </a:txBody>
                  <a:tcPr marL="142875" marR="142875" marT="95250" marB="95250">
                    <a:solidFill>
                      <a:srgbClr val="122C3A"/>
                    </a:solidFill>
                  </a:tcPr>
                </a:tc>
              </a:tr>
              <a:tr h="857250">
                <a:tc>
                  <a:txBody>
                    <a:bodyPr/>
                    <a:lstStyle/>
                    <a:p>
                      <a:r>
                        <a:rPr sz="1800" b="0">
                          <a:solidFill>
                            <a:srgbClr val="122C3A"/>
                          </a:solidFill>
                          <a:latin typeface="Arial"/>
                          <a:ea typeface="Arial"/>
                          <a:cs typeface="Arial"/>
                        </a:rPr>
                        <a:t>Welfare LP</a:t>
                      </a:r>
                    </a:p>
                  </a:txBody>
                  <a:tcPr marL="142875" marR="142875" marT="95250" marB="95250">
                    <a:solidFill>
                      <a:srgbClr val="FFFFFF"/>
                    </a:solidFill>
                  </a:tcPr>
                </a:tc>
                <a:tc>
                  <a:txBody>
                    <a:bodyPr/>
                    <a:lstStyle/>
                    <a:p>
                      <a:r>
                        <a:rPr sz="1800" b="0">
                          <a:solidFill>
                            <a:srgbClr val="122C3A"/>
                          </a:solidFill>
                          <a:latin typeface="Arial"/>
                          <a:ea typeface="Arial"/>
                          <a:cs typeface="Arial"/>
                        </a:rPr>
                        <a:t>26.0954</a:t>
                      </a:r>
                    </a:p>
                  </a:txBody>
                  <a:tcPr marL="142875" marR="142875" marT="95250" marB="95250">
                    <a:solidFill>
                      <a:srgbClr val="FFFFFF"/>
                    </a:solidFill>
                  </a:tcPr>
                </a:tc>
                <a:tc>
                  <a:txBody>
                    <a:bodyPr/>
                    <a:lstStyle/>
                    <a:p>
                      <a:r>
                        <a:rPr sz="1800" b="0">
                          <a:solidFill>
                            <a:srgbClr val="122C3A"/>
                          </a:solidFill>
                          <a:latin typeface="Arial"/>
                          <a:ea typeface="Arial"/>
                          <a:cs typeface="Arial"/>
                        </a:rPr>
                        <a:t>0.7741</a:t>
                      </a:r>
                    </a:p>
                  </a:txBody>
                  <a:tcPr marL="142875" marR="142875" marT="95250" marB="95250">
                    <a:solidFill>
                      <a:srgbClr val="FFFFFF"/>
                    </a:solidFill>
                  </a:tcPr>
                </a:tc>
              </a:tr>
              <a:tr h="857250">
                <a:tc>
                  <a:txBody>
                    <a:bodyPr/>
                    <a:lstStyle/>
                    <a:p>
                      <a:r>
                        <a:rPr sz="1800" b="0">
                          <a:solidFill>
                            <a:srgbClr val="122C3A"/>
                          </a:solidFill>
                          <a:latin typeface="Arial"/>
                          <a:ea typeface="Arial"/>
                          <a:cs typeface="Arial"/>
                        </a:rPr>
                        <a:t>Nash, 5% tolerance</a:t>
                      </a:r>
                    </a:p>
                  </a:txBody>
                  <a:tcPr marL="142875" marR="142875" marT="95250" marB="95250">
                    <a:solidFill>
                      <a:srgbClr val="EFF5F5"/>
                    </a:solidFill>
                  </a:tcPr>
                </a:tc>
                <a:tc>
                  <a:txBody>
                    <a:bodyPr/>
                    <a:lstStyle/>
                    <a:p>
                      <a:r>
                        <a:rPr sz="1800" b="0">
                          <a:solidFill>
                            <a:srgbClr val="122C3A"/>
                          </a:solidFill>
                          <a:latin typeface="Arial"/>
                          <a:ea typeface="Arial"/>
                          <a:cs typeface="Arial"/>
                        </a:rPr>
                        <a:t>25.8716</a:t>
                      </a:r>
                    </a:p>
                  </a:txBody>
                  <a:tcPr marL="142875" marR="142875" marT="95250" marB="95250">
                    <a:solidFill>
                      <a:srgbClr val="EFF5F5"/>
                    </a:solidFill>
                  </a:tcPr>
                </a:tc>
                <a:tc>
                  <a:txBody>
                    <a:bodyPr/>
                    <a:lstStyle/>
                    <a:p>
                      <a:r>
                        <a:rPr sz="1800" b="0">
                          <a:solidFill>
                            <a:srgbClr val="122C3A"/>
                          </a:solidFill>
                          <a:latin typeface="Arial"/>
                          <a:ea typeface="Arial"/>
                          <a:cs typeface="Arial"/>
                        </a:rPr>
                        <a:t>0.8187</a:t>
                      </a:r>
                    </a:p>
                  </a:txBody>
                  <a:tcPr marL="142875" marR="142875" marT="95250" marB="95250">
                    <a:solidFill>
                      <a:srgbClr val="EFF5F5"/>
                    </a:solidFill>
                  </a:tcPr>
                </a:tc>
              </a:tr>
              <a:tr h="857250">
                <a:tc>
                  <a:txBody>
                    <a:bodyPr/>
                    <a:lstStyle/>
                    <a:p>
                      <a:r>
                        <a:rPr sz="1800" b="0">
                          <a:solidFill>
                            <a:srgbClr val="122C3A"/>
                          </a:solidFill>
                          <a:latin typeface="Arial"/>
                          <a:ea typeface="Arial"/>
                          <a:cs typeface="Arial"/>
                        </a:rPr>
                        <a:t>Proportional</a:t>
                      </a:r>
                    </a:p>
                  </a:txBody>
                  <a:tcPr marL="142875" marR="142875" marT="95250" marB="95250">
                    <a:solidFill>
                      <a:srgbClr val="FFFFFF"/>
                    </a:solidFill>
                  </a:tcPr>
                </a:tc>
                <a:tc>
                  <a:txBody>
                    <a:bodyPr/>
                    <a:lstStyle/>
                    <a:p>
                      <a:r>
                        <a:rPr sz="1800" b="0">
                          <a:solidFill>
                            <a:srgbClr val="122C3A"/>
                          </a:solidFill>
                          <a:latin typeface="Arial"/>
                          <a:ea typeface="Arial"/>
                          <a:cs typeface="Arial"/>
                        </a:rPr>
                        <a:t>24.6755</a:t>
                      </a:r>
                    </a:p>
                  </a:txBody>
                  <a:tcPr marL="142875" marR="142875" marT="95250" marB="95250">
                    <a:solidFill>
                      <a:srgbClr val="FFFFFF"/>
                    </a:solidFill>
                  </a:tcPr>
                </a:tc>
                <a:tc>
                  <a:txBody>
                    <a:bodyPr/>
                    <a:lstStyle/>
                    <a:p>
                      <a:r>
                        <a:rPr sz="1800" b="0">
                          <a:solidFill>
                            <a:srgbClr val="122C3A"/>
                          </a:solidFill>
                          <a:latin typeface="Arial"/>
                          <a:ea typeface="Arial"/>
                          <a:cs typeface="Arial"/>
                        </a:rPr>
                        <a:t>0.8642</a:t>
                      </a:r>
                    </a:p>
                  </a:txBody>
                  <a:tcPr marL="142875" marR="142875" marT="95250" marB="9525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576A2F07-979B-438F-BFB8-1ECC7AB4F936}"/>
              </a:ext>
            </a:extLst>
          </p:cNvPr>
          <p:cNvSpPr>
            <a:spLocks xmlns:a="http://schemas.openxmlformats.org/drawingml/2006/main" noGrp="1"/>
          </p:cNvSpPr>
          <p:nvPr/>
        </p:nvSpPr>
        <p:spPr>
          <a:xfrm xmlns:a="http://schemas.openxmlformats.org/drawingml/2006/main">
            <a:off x="647700" y="5695950"/>
            <a:ext cx="10525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B"/>
                </a:solidFill>
                <a:latin typeface="Arial"/>
                <a:ea typeface="Arial"/>
                <a:cs typeface="Arial"/>
              </a:defRPr>
            </a:pPr>
            <a:r>
              <a:rPr sz="1650" b="0">
                <a:solidFill>
                  <a:srgbClr val="52636B"/>
                </a:solidFill>
                <a:latin typeface="Arial"/>
                <a:ea typeface="Arial"/>
                <a:cs typeface="Arial"/>
              </a:rPr>
              <a:t>Heterogeneous-tariff allocation pilot. Its grid-only baseline differs from the battery experiment.</a:t>
            </a:r>
          </a:p>
        </p:txBody>
      </p:sp>
      <p:sp>
        <p:nvSpPr>
          <p:cNvPr id="4" name="">
            <a:extLst xmlns:a="http://schemas.openxmlformats.org/drawingml/2006/main">
              <a:ext uri="{FF2B5EF4-FFF2-40B4-BE49-F238E27FC236}">
                <a16:creationId xmlns:a16="http://schemas.microsoft.com/office/drawing/2014/main" id="{95B35D7F-2396-44FD-BCBC-DD45D9FA9EF0}"/>
              </a:ext>
            </a:extLst>
          </p:cNvPr>
          <p:cNvSpPr>
            <a:spLocks xmlns:a="http://schemas.openxmlformats.org/drawingml/2006/main" noGrp="1"/>
          </p:cNvSpPr>
          <p:nvPr/>
        </p:nvSpPr>
        <p:spPr>
          <a:xfrm xmlns:a="http://schemas.openxmlformats.org/drawingml/2006/main">
            <a:off x="11334750" y="6334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B"/>
                </a:solidFill>
                <a:latin typeface="Arial"/>
                <a:ea typeface="Arial"/>
                <a:cs typeface="Arial"/>
              </a:defRPr>
            </a:pPr>
            <a:r>
              <a:rPr sz="1350" b="0">
                <a:solidFill>
                  <a:srgbClr val="52636B"/>
                </a:solidFill>
                <a:latin typeface="Arial"/>
                <a:ea typeface="Arial"/>
                <a:cs typeface="Arial"/>
              </a:rPr>
              <a:t>8</a:t>
            </a:r>
          </a:p>
        </p:txBody>
      </p:sp>
    </p:spTree>
    <p:extLst>
      <p:ext uri="{BB962C8B-B14F-4D97-AF65-F5344CB8AC3E}">
        <p14:creationId xmlns:p14="http://schemas.microsoft.com/office/powerpoint/2010/main" val="56696672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FFAC352-4456-4CD6-AB0D-F1BBAA858749}"/>
              </a:ext>
            </a:extLst>
          </p:cNvPr>
          <p:cNvSpPr>
            <a:spLocks xmlns:a="http://schemas.openxmlformats.org/drawingml/2006/main" noGrp="1"/>
          </p:cNvSpPr>
          <p:nvPr/>
        </p:nvSpPr>
        <p:spPr>
          <a:xfrm xmlns:a="http://schemas.openxmlformats.org/drawingml/2006/main">
            <a:off x="609600" y="428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22C3A"/>
                </a:solidFill>
                <a:latin typeface="Arial"/>
                <a:ea typeface="Arial"/>
                <a:cs typeface="Arial"/>
              </a:defRPr>
            </a:pPr>
            <a:r>
              <a:rPr sz="3300" b="1">
                <a:solidFill>
                  <a:srgbClr val="122C3A"/>
                </a:solidFill>
                <a:latin typeface="Arial"/>
                <a:ea typeface="Arial"/>
                <a:cs typeface="Arial"/>
              </a:rPr>
              <a:t>Both ledgers reproduce the same 64 settlements</a:t>
            </a:r>
          </a:p>
        </p:txBody>
      </p:sp>
      <p:graphicFrame>
        <p:nvGraphicFramePr>
          <p:cNvPr id="8" name=""/>
          <p:cNvGraphicFramePr/>
          <p:nvPr/>
        </p:nvGraphicFramePr>
        <p:xfrm>
          <a:off xmlns:a="http://schemas.openxmlformats.org/drawingml/2006/main" x="609600" y="1704975"/>
          <a:ext xmlns:a="http://schemas.openxmlformats.org/drawingml/2006/main" cx="10972800" cy="3429000"/>
        </p:xfrm>
        <a:graphic xmlns:a="http://schemas.openxmlformats.org/drawingml/2006/main">
          <a:graphicData uri="http://schemas.openxmlformats.org/drawingml/2006/table">
            <a:tbl>
              <a:tblPr/>
              <a:tblGrid>
                <a:gridCol w="5486400"/>
                <a:gridCol w="5486400"/>
              </a:tblGrid>
              <a:tr h="571500">
                <a:tc>
                  <a:txBody>
                    <a:bodyPr/>
                    <a:lstStyle/>
                    <a:p>
                      <a:r>
                        <a:rPr sz="1875" b="1">
                          <a:solidFill>
                            <a:srgbClr val="FFFFFF"/>
                          </a:solidFill>
                          <a:latin typeface="Arial"/>
                          <a:ea typeface="Arial"/>
                          <a:cs typeface="Arial"/>
                        </a:rPr>
                        <a:t>Measurement</a:t>
                      </a:r>
                    </a:p>
                  </a:txBody>
                  <a:tcPr marL="142875" marR="142875" marT="95250" marB="95250">
                    <a:solidFill>
                      <a:srgbClr val="122C3A"/>
                    </a:solidFill>
                  </a:tcPr>
                </a:tc>
                <a:tc>
                  <a:txBody>
                    <a:bodyPr/>
                    <a:lstStyle/>
                    <a:p>
                      <a:r>
                        <a:rPr sz="1875" b="1">
                          <a:solidFill>
                            <a:srgbClr val="FFFFFF"/>
                          </a:solidFill>
                          <a:latin typeface="Arial"/>
                          <a:ea typeface="Arial"/>
                          <a:cs typeface="Arial"/>
                        </a:rPr>
                        <a:t>Observed result</a:t>
                      </a:r>
                    </a:p>
                  </a:txBody>
                  <a:tcPr marL="142875" marR="142875" marT="95250" marB="95250">
                    <a:solidFill>
                      <a:srgbClr val="122C3A"/>
                    </a:solidFill>
                  </a:tcPr>
                </a:tc>
              </a:tr>
              <a:tr h="571500">
                <a:tc>
                  <a:txBody>
                    <a:bodyPr/>
                    <a:lstStyle/>
                    <a:p>
                      <a:r>
                        <a:rPr sz="1875" b="0">
                          <a:solidFill>
                            <a:srgbClr val="122C3A"/>
                          </a:solidFill>
                          <a:latin typeface="Arial"/>
                          <a:ea typeface="Arial"/>
                          <a:cs typeface="Arial"/>
                        </a:rPr>
                        <a:t>Final balances</a:t>
                      </a:r>
                    </a:p>
                  </a:txBody>
                  <a:tcPr marL="142875" marR="142875" marT="95250" marB="95250">
                    <a:solidFill>
                      <a:srgbClr val="FFFFFF"/>
                    </a:solidFill>
                  </a:tcPr>
                </a:tc>
                <a:tc>
                  <a:txBody>
                    <a:bodyPr/>
                    <a:lstStyle/>
                    <a:p>
                      <a:r>
                        <a:rPr sz="1875" b="0">
                          <a:solidFill>
                            <a:srgbClr val="122C3A"/>
                          </a:solidFill>
                          <a:latin typeface="Arial"/>
                          <a:ea typeface="Arial"/>
                          <a:cs typeface="Arial"/>
                        </a:rPr>
                        <a:t>Exact match across seven accounts</a:t>
                      </a:r>
                    </a:p>
                  </a:txBody>
                  <a:tcPr marL="142875" marR="142875" marT="95250" marB="95250">
                    <a:solidFill>
                      <a:srgbClr val="FFFFFF"/>
                    </a:solidFill>
                  </a:tcPr>
                </a:tc>
              </a:tr>
              <a:tr h="571500">
                <a:tc>
                  <a:txBody>
                    <a:bodyPr/>
                    <a:lstStyle/>
                    <a:p>
                      <a:r>
                        <a:rPr sz="1875" b="0">
                          <a:solidFill>
                            <a:srgbClr val="122C3A"/>
                          </a:solidFill>
                          <a:latin typeface="Arial"/>
                          <a:ea typeface="Arial"/>
                          <a:cs typeface="Arial"/>
                        </a:rPr>
                        <a:t>Total accounting credit</a:t>
                      </a:r>
                    </a:p>
                  </a:txBody>
                  <a:tcPr marL="142875" marR="142875" marT="95250" marB="95250">
                    <a:solidFill>
                      <a:srgbClr val="EFF5F5"/>
                    </a:solidFill>
                  </a:tcPr>
                </a:tc>
                <a:tc>
                  <a:txBody>
                    <a:bodyPr/>
                    <a:lstStyle/>
                    <a:p>
                      <a:r>
                        <a:rPr sz="1875" b="0">
                          <a:solidFill>
                            <a:srgbClr val="122C3A"/>
                          </a:solidFill>
                          <a:latin typeface="Arial"/>
                          <a:ea typeface="Arial"/>
                          <a:cs typeface="Arial"/>
                        </a:rPr>
                        <a:t>6,000,000,000 micro-EUR units conserved</a:t>
                      </a:r>
                    </a:p>
                  </a:txBody>
                  <a:tcPr marL="142875" marR="142875" marT="95250" marB="95250">
                    <a:solidFill>
                      <a:srgbClr val="EFF5F5"/>
                    </a:solidFill>
                  </a:tcPr>
                </a:tc>
              </a:tr>
              <a:tr h="571500">
                <a:tc>
                  <a:txBody>
                    <a:bodyPr/>
                    <a:lstStyle/>
                    <a:p>
                      <a:r>
                        <a:rPr sz="1875" b="0">
                          <a:solidFill>
                            <a:srgbClr val="122C3A"/>
                          </a:solidFill>
                          <a:latin typeface="Arial"/>
                          <a:ea typeface="Arial"/>
                          <a:cs typeface="Arial"/>
                        </a:rPr>
                        <a:t>Solidity deployment</a:t>
                      </a:r>
                    </a:p>
                  </a:txBody>
                  <a:tcPr marL="142875" marR="142875" marT="95250" marB="95250">
                    <a:solidFill>
                      <a:srgbClr val="FFFFFF"/>
                    </a:solidFill>
                  </a:tcPr>
                </a:tc>
                <a:tc>
                  <a:txBody>
                    <a:bodyPr/>
                    <a:lstStyle/>
                    <a:p>
                      <a:r>
                        <a:rPr sz="1875" b="0">
                          <a:solidFill>
                            <a:srgbClr val="122C3A"/>
                          </a:solidFill>
                          <a:latin typeface="Arial"/>
                          <a:ea typeface="Arial"/>
                          <a:cs typeface="Arial"/>
                        </a:rPr>
                        <a:t>641,807 gas</a:t>
                      </a:r>
                    </a:p>
                  </a:txBody>
                  <a:tcPr marL="142875" marR="142875" marT="95250" marB="95250">
                    <a:solidFill>
                      <a:srgbClr val="FFFFFF"/>
                    </a:solidFill>
                  </a:tcPr>
                </a:tc>
              </a:tr>
              <a:tr h="571500">
                <a:tc>
                  <a:txBody>
                    <a:bodyPr/>
                    <a:lstStyle/>
                    <a:p>
                      <a:r>
                        <a:rPr sz="1875" b="0">
                          <a:solidFill>
                            <a:srgbClr val="122C3A"/>
                          </a:solidFill>
                          <a:latin typeface="Arial"/>
                          <a:ea typeface="Arial"/>
                          <a:cs typeface="Arial"/>
                        </a:rPr>
                        <a:t>Settlement gas</a:t>
                      </a:r>
                    </a:p>
                  </a:txBody>
                  <a:tcPr marL="142875" marR="142875" marT="95250" marB="95250">
                    <a:solidFill>
                      <a:srgbClr val="EFF5F5"/>
                    </a:solidFill>
                  </a:tcPr>
                </a:tc>
                <a:tc>
                  <a:txBody>
                    <a:bodyPr/>
                    <a:lstStyle/>
                    <a:p>
                      <a:r>
                        <a:rPr sz="1875" b="0">
                          <a:solidFill>
                            <a:srgbClr val="122C3A"/>
                          </a:solidFill>
                          <a:latin typeface="Arial"/>
                          <a:ea typeface="Arial"/>
                          <a:cs typeface="Arial"/>
                        </a:rPr>
                        <a:t>4,424,772 total, 68,917 median</a:t>
                      </a:r>
                    </a:p>
                  </a:txBody>
                  <a:tcPr marL="142875" marR="142875" marT="95250" marB="95250">
                    <a:solidFill>
                      <a:srgbClr val="EFF5F5"/>
                    </a:solidFill>
                  </a:tcPr>
                </a:tc>
              </a:tr>
              <a:tr h="571500">
                <a:tc>
                  <a:txBody>
                    <a:bodyPr/>
                    <a:lstStyle/>
                    <a:p>
                      <a:r>
                        <a:rPr sz="1875" b="0">
                          <a:solidFill>
                            <a:srgbClr val="122C3A"/>
                          </a:solidFill>
                          <a:latin typeface="Arial"/>
                          <a:ea typeface="Arial"/>
                          <a:cs typeface="Arial"/>
                        </a:rPr>
                        <a:t>Rejection and signature checks</a:t>
                      </a:r>
                    </a:p>
                  </a:txBody>
                  <a:tcPr marL="142875" marR="142875" marT="95250" marB="95250">
                    <a:solidFill>
                      <a:srgbClr val="FFFFFF"/>
                    </a:solidFill>
                  </a:tcPr>
                </a:tc>
                <a:tc>
                  <a:txBody>
                    <a:bodyPr/>
                    <a:lstStyle/>
                    <a:p>
                      <a:r>
                        <a:rPr sz="1875" b="0">
                          <a:solidFill>
                            <a:srgbClr val="122C3A"/>
                          </a:solidFill>
                          <a:latin typeface="Arial"/>
                          <a:ea typeface="Arial"/>
                          <a:cs typeface="Arial"/>
                        </a:rPr>
                        <a:t>10 of 10 passed</a:t>
                      </a:r>
                    </a:p>
                  </a:txBody>
                  <a:tcPr marL="142875" marR="142875" marT="95250" marB="9525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20628815-5B9D-4A2A-AB41-23FBE35F0E7C}"/>
              </a:ext>
            </a:extLst>
          </p:cNvPr>
          <p:cNvSpPr>
            <a:spLocks xmlns:a="http://schemas.openxmlformats.org/drawingml/2006/main" noGrp="1"/>
          </p:cNvSpPr>
          <p:nvPr/>
        </p:nvSpPr>
        <p:spPr>
          <a:xfrm xmlns:a="http://schemas.openxmlformats.org/drawingml/2006/main">
            <a:off x="647700" y="5695950"/>
            <a:ext cx="10525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B"/>
                </a:solidFill>
                <a:latin typeface="Arial"/>
                <a:ea typeface="Arial"/>
                <a:cs typeface="Arial"/>
              </a:defRPr>
            </a:pPr>
            <a:r>
              <a:rPr sz="1650" b="0">
                <a:solidFill>
                  <a:srgbClr val="52636B"/>
                </a:solidFill>
                <a:latin typeface="Arial"/>
                <a:ea typeface="Arial"/>
                <a:cs typeface="Arial"/>
              </a:rPr>
              <a:t>Local PyEVM chain and Ed25519-signed SQLite. No real currency or public-chain performance claim.</a:t>
            </a:r>
          </a:p>
        </p:txBody>
      </p:sp>
      <p:sp>
        <p:nvSpPr>
          <p:cNvPr id="4" name="">
            <a:extLst xmlns:a="http://schemas.openxmlformats.org/drawingml/2006/main">
              <a:ext uri="{FF2B5EF4-FFF2-40B4-BE49-F238E27FC236}">
                <a16:creationId xmlns:a16="http://schemas.microsoft.com/office/drawing/2014/main" id="{CBE9F4B0-9E8F-4725-B074-8E09DE485BD8}"/>
              </a:ext>
            </a:extLst>
          </p:cNvPr>
          <p:cNvSpPr>
            <a:spLocks xmlns:a="http://schemas.openxmlformats.org/drawingml/2006/main" noGrp="1"/>
          </p:cNvSpPr>
          <p:nvPr/>
        </p:nvSpPr>
        <p:spPr>
          <a:xfrm xmlns:a="http://schemas.openxmlformats.org/drawingml/2006/main">
            <a:off x="11334750" y="6334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B"/>
                </a:solidFill>
                <a:latin typeface="Arial"/>
                <a:ea typeface="Arial"/>
                <a:cs typeface="Arial"/>
              </a:defRPr>
            </a:pPr>
            <a:r>
              <a:rPr sz="1350" b="0">
                <a:solidFill>
                  <a:srgbClr val="52636B"/>
                </a:solidFill>
                <a:latin typeface="Arial"/>
                <a:ea typeface="Arial"/>
                <a:cs typeface="Arial"/>
              </a:rPr>
              <a:t>9</a:t>
            </a:r>
          </a:p>
        </p:txBody>
      </p:sp>
    </p:spTree>
    <p:extLst>
      <p:ext uri="{BB962C8B-B14F-4D97-AF65-F5344CB8AC3E}">
        <p14:creationId xmlns:p14="http://schemas.microsoft.com/office/powerpoint/2010/main" val="15843811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BB713A7-1885-4B2D-B999-70DAC69951A7}"/>
              </a:ext>
            </a:extLst>
          </p:cNvPr>
          <p:cNvSpPr>
            <a:spLocks xmlns:a="http://schemas.openxmlformats.org/drawingml/2006/main" noGrp="1"/>
          </p:cNvSpPr>
          <p:nvPr/>
        </p:nvSpPr>
        <p:spPr>
          <a:xfrm xmlns:a="http://schemas.openxmlformats.org/drawingml/2006/main">
            <a:off x="609600" y="428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22C3A"/>
                </a:solidFill>
                <a:latin typeface="Arial"/>
                <a:ea typeface="Arial"/>
                <a:cs typeface="Arial"/>
              </a:defRPr>
            </a:pPr>
            <a:r>
              <a:rPr sz="3300" b="1">
                <a:solidFill>
                  <a:srgbClr val="122C3A"/>
                </a:solidFill>
                <a:latin typeface="Arial"/>
                <a:ea typeface="Arial"/>
                <a:cs typeface="Arial"/>
              </a:rPr>
              <a:t>Verification and evidence limits</a:t>
            </a:r>
          </a:p>
        </p:txBody>
      </p:sp>
      <p:sp>
        <p:nvSpPr>
          <p:cNvPr id="2" name="">
            <a:extLst xmlns:a="http://schemas.openxmlformats.org/drawingml/2006/main">
              <a:ext uri="{FF2B5EF4-FFF2-40B4-BE49-F238E27FC236}">
                <a16:creationId xmlns:a16="http://schemas.microsoft.com/office/drawing/2014/main" id="{AF2ADCE0-2975-4DDD-A50E-27307DFBFD87}"/>
              </a:ext>
            </a:extLst>
          </p:cNvPr>
          <p:cNvSpPr>
            <a:spLocks xmlns:a="http://schemas.openxmlformats.org/drawingml/2006/main" noGrp="1"/>
          </p:cNvSpPr>
          <p:nvPr/>
        </p:nvSpPr>
        <p:spPr>
          <a:xfrm xmlns:a="http://schemas.openxmlformats.org/drawingml/2006/main">
            <a:off x="647700" y="1695450"/>
            <a:ext cx="10810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22C3A"/>
                </a:solidFill>
                <a:latin typeface="Arial"/>
                <a:ea typeface="Arial"/>
                <a:cs typeface="Arial"/>
              </a:defRPr>
            </a:pPr>
            <a:r>
              <a:rPr sz="2325" b="0">
                <a:solidFill>
                  <a:srgbClr val="122C3A"/>
                </a:solidFill>
                <a:latin typeface="Arial"/>
                <a:ea typeface="Arial"/>
                <a:cs typeface="Arial"/>
              </a:rPr>
              <a:t>37 research tests cover physical, causal and data boundaries</a:t>
            </a:r>
          </a:p>
        </p:txBody>
      </p:sp>
      <p:sp>
        <p:nvSpPr>
          <p:cNvPr id="3" name="">
            <a:extLst xmlns:a="http://schemas.openxmlformats.org/drawingml/2006/main">
              <a:ext uri="{FF2B5EF4-FFF2-40B4-BE49-F238E27FC236}">
                <a16:creationId xmlns:a16="http://schemas.microsoft.com/office/drawing/2014/main" id="{CA183BB0-9060-47EB-B9D7-7C87E1D7915D}"/>
              </a:ext>
            </a:extLst>
          </p:cNvPr>
          <p:cNvSpPr>
            <a:spLocks xmlns:a="http://schemas.openxmlformats.org/drawingml/2006/main" noGrp="1"/>
          </p:cNvSpPr>
          <p:nvPr/>
        </p:nvSpPr>
        <p:spPr>
          <a:xfrm xmlns:a="http://schemas.openxmlformats.org/drawingml/2006/main">
            <a:off x="647700" y="2514600"/>
            <a:ext cx="10810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22C3A"/>
                </a:solidFill>
                <a:latin typeface="Arial"/>
                <a:ea typeface="Arial"/>
                <a:cs typeface="Arial"/>
              </a:defRPr>
            </a:pPr>
            <a:r>
              <a:rPr sz="2325" b="0">
                <a:solidFill>
                  <a:srgbClr val="122C3A"/>
                </a:solidFill>
                <a:latin typeface="Arial"/>
                <a:ea typeface="Arial"/>
                <a:cs typeface="Arial"/>
              </a:rPr>
              <a:t>70 saved checkpoints include 60 controlled follow-up runs</a:t>
            </a:r>
          </a:p>
        </p:txBody>
      </p:sp>
      <p:sp>
        <p:nvSpPr>
          <p:cNvPr id="4" name="">
            <a:extLst xmlns:a="http://schemas.openxmlformats.org/drawingml/2006/main">
              <a:ext uri="{FF2B5EF4-FFF2-40B4-BE49-F238E27FC236}">
                <a16:creationId xmlns:a16="http://schemas.microsoft.com/office/drawing/2014/main" id="{E4B39537-9EFC-4705-AB9F-7175C60CDE7A}"/>
              </a:ext>
            </a:extLst>
          </p:cNvPr>
          <p:cNvSpPr>
            <a:spLocks xmlns:a="http://schemas.openxmlformats.org/drawingml/2006/main" noGrp="1"/>
          </p:cNvSpPr>
          <p:nvPr/>
        </p:nvSpPr>
        <p:spPr>
          <a:xfrm xmlns:a="http://schemas.openxmlformats.org/drawingml/2006/main">
            <a:off x="647700" y="3333750"/>
            <a:ext cx="10810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22C3A"/>
                </a:solidFill>
                <a:latin typeface="Arial"/>
                <a:ea typeface="Arial"/>
                <a:cs typeface="Arial"/>
              </a:defRPr>
            </a:pPr>
            <a:r>
              <a:rPr sz="2325" b="0">
                <a:solidFill>
                  <a:srgbClr val="122C3A"/>
                </a:solidFill>
                <a:latin typeface="Arial"/>
                <a:ea typeface="Arial"/>
                <a:cs typeface="Arial"/>
              </a:rPr>
              <a:t>Maximum energy-balance residual remains below 1.4 × 10⁻¹⁵ kWh</a:t>
            </a:r>
          </a:p>
        </p:txBody>
      </p:sp>
      <p:sp>
        <p:nvSpPr>
          <p:cNvPr id="5" name="">
            <a:extLst xmlns:a="http://schemas.openxmlformats.org/drawingml/2006/main">
              <a:ext uri="{FF2B5EF4-FFF2-40B4-BE49-F238E27FC236}">
                <a16:creationId xmlns:a16="http://schemas.microsoft.com/office/drawing/2014/main" id="{DB92108B-3427-4512-8365-A7DCA4FE8241}"/>
              </a:ext>
            </a:extLst>
          </p:cNvPr>
          <p:cNvSpPr>
            <a:spLocks xmlns:a="http://schemas.openxmlformats.org/drawingml/2006/main" noGrp="1"/>
          </p:cNvSpPr>
          <p:nvPr/>
        </p:nvSpPr>
        <p:spPr>
          <a:xfrm xmlns:a="http://schemas.openxmlformats.org/drawingml/2006/main">
            <a:off x="647700" y="4152900"/>
            <a:ext cx="10810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22C3A"/>
                </a:solidFill>
                <a:latin typeface="Arial"/>
                <a:ea typeface="Arial"/>
                <a:cs typeface="Arial"/>
              </a:defRPr>
            </a:pPr>
            <a:r>
              <a:rPr sz="2325" b="0">
                <a:solidFill>
                  <a:srgbClr val="122C3A"/>
                </a:solidFill>
                <a:latin typeface="Arial"/>
                <a:ea typeface="Arial"/>
                <a:cs typeface="Arial"/>
              </a:rPr>
              <a:t>Later evaluation adds 501 episodes across 168 days in the same six homes</a:t>
            </a:r>
          </a:p>
        </p:txBody>
      </p:sp>
      <p:sp>
        <p:nvSpPr>
          <p:cNvPr id="6" name="">
            <a:extLst xmlns:a="http://schemas.openxmlformats.org/drawingml/2006/main">
              <a:ext uri="{FF2B5EF4-FFF2-40B4-BE49-F238E27FC236}">
                <a16:creationId xmlns:a16="http://schemas.microsoft.com/office/drawing/2014/main" id="{377BD1B4-6B9B-4306-AEC5-19A6C115E7E9}"/>
              </a:ext>
            </a:extLst>
          </p:cNvPr>
          <p:cNvSpPr>
            <a:spLocks xmlns:a="http://schemas.openxmlformats.org/drawingml/2006/main" noGrp="1"/>
          </p:cNvSpPr>
          <p:nvPr/>
        </p:nvSpPr>
        <p:spPr>
          <a:xfrm xmlns:a="http://schemas.openxmlformats.org/drawingml/2006/main">
            <a:off x="647700" y="5695950"/>
            <a:ext cx="10525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B"/>
                </a:solidFill>
                <a:latin typeface="Arial"/>
                <a:ea typeface="Arial"/>
                <a:cs typeface="Arial"/>
              </a:defRPr>
            </a:pPr>
            <a:r>
              <a:rPr sz="1650" b="0">
                <a:solidFill>
                  <a:srgbClr val="52636B"/>
                </a:solidFill>
                <a:latin typeface="Arial"/>
                <a:ea typeface="Arial"/>
                <a:cs typeface="Arial"/>
              </a:rPr>
              <a:t>No enforced daily CVaR constraint, feeder validation or demonstrated annual return on investment.</a:t>
            </a:r>
          </a:p>
        </p:txBody>
      </p:sp>
      <p:sp>
        <p:nvSpPr>
          <p:cNvPr id="7" name="">
            <a:extLst xmlns:a="http://schemas.openxmlformats.org/drawingml/2006/main">
              <a:ext uri="{FF2B5EF4-FFF2-40B4-BE49-F238E27FC236}">
                <a16:creationId xmlns:a16="http://schemas.microsoft.com/office/drawing/2014/main" id="{BBB96544-35D2-4CD4-B580-885C7B500054}"/>
              </a:ext>
            </a:extLst>
          </p:cNvPr>
          <p:cNvSpPr>
            <a:spLocks xmlns:a="http://schemas.openxmlformats.org/drawingml/2006/main" noGrp="1"/>
          </p:cNvSpPr>
          <p:nvPr/>
        </p:nvSpPr>
        <p:spPr>
          <a:xfrm xmlns:a="http://schemas.openxmlformats.org/drawingml/2006/main">
            <a:off x="11334750" y="6334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B"/>
                </a:solidFill>
                <a:latin typeface="Arial"/>
                <a:ea typeface="Arial"/>
                <a:cs typeface="Arial"/>
              </a:defRPr>
            </a:pPr>
            <a:r>
              <a:rPr sz="1350" b="0">
                <a:solidFill>
                  <a:srgbClr val="52636B"/>
                </a:solidFill>
                <a:latin typeface="Arial"/>
                <a:ea typeface="Arial"/>
                <a:cs typeface="Arial"/>
              </a:rPr>
              <a:t>10</a:t>
            </a:r>
          </a:p>
        </p:txBody>
      </p:sp>
    </p:spTree>
    <p:extLst>
      <p:ext uri="{BB962C8B-B14F-4D97-AF65-F5344CB8AC3E}">
        <p14:creationId xmlns:p14="http://schemas.microsoft.com/office/powerpoint/2010/main" val="191558699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FCD2999-D69D-4D45-85C2-785C6E15377C}"/>
              </a:ext>
            </a:extLst>
          </p:cNvPr>
          <p:cNvSpPr>
            <a:spLocks xmlns:a="http://schemas.openxmlformats.org/drawingml/2006/main" noGrp="1"/>
          </p:cNvSpPr>
          <p:nvPr/>
        </p:nvSpPr>
        <p:spPr>
          <a:xfrm xmlns:a="http://schemas.openxmlformats.org/drawingml/2006/main">
            <a:off x="609600" y="428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22C3A"/>
                </a:solidFill>
                <a:latin typeface="Arial"/>
                <a:ea typeface="Arial"/>
                <a:cs typeface="Arial"/>
              </a:defRPr>
            </a:pPr>
            <a:r>
              <a:rPr sz="3300" b="1">
                <a:solidFill>
                  <a:srgbClr val="122C3A"/>
                </a:solidFill>
                <a:latin typeface="Arial"/>
                <a:ea typeface="Arial"/>
                <a:cs typeface="Arial"/>
              </a:rPr>
              <a:t>June follow-up findings</a:t>
            </a:r>
          </a:p>
        </p:txBody>
      </p:sp>
      <p:sp>
        <p:nvSpPr>
          <p:cNvPr id="2" name="">
            <a:extLst xmlns:a="http://schemas.openxmlformats.org/drawingml/2006/main">
              <a:ext uri="{FF2B5EF4-FFF2-40B4-BE49-F238E27FC236}">
                <a16:creationId xmlns:a16="http://schemas.microsoft.com/office/drawing/2014/main" id="{D2B40C3B-22AD-4679-B1B7-F36FDB870AC8}"/>
              </a:ext>
            </a:extLst>
          </p:cNvPr>
          <p:cNvSpPr>
            <a:spLocks xmlns:a="http://schemas.openxmlformats.org/drawingml/2006/main" noGrp="1"/>
          </p:cNvSpPr>
          <p:nvPr/>
        </p:nvSpPr>
        <p:spPr>
          <a:xfrm xmlns:a="http://schemas.openxmlformats.org/drawingml/2006/main">
            <a:off x="647700" y="1695450"/>
            <a:ext cx="10810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22C3A"/>
                </a:solidFill>
                <a:latin typeface="Arial"/>
                <a:ea typeface="Arial"/>
                <a:cs typeface="Arial"/>
              </a:defRPr>
            </a:pPr>
            <a:r>
              <a:rPr sz="2325" b="0">
                <a:solidFill>
                  <a:srgbClr val="122C3A"/>
                </a:solidFill>
                <a:latin typeface="Arial"/>
                <a:ea typeface="Arial"/>
                <a:cs typeface="Arial"/>
              </a:rPr>
              <a:t>Discrete actions at 300 updates reproduce idle cost in all 10 runs</a:t>
            </a:r>
          </a:p>
        </p:txBody>
      </p:sp>
      <p:sp>
        <p:nvSpPr>
          <p:cNvPr id="3" name="">
            <a:extLst xmlns:a="http://schemas.openxmlformats.org/drawingml/2006/main">
              <a:ext uri="{FF2B5EF4-FFF2-40B4-BE49-F238E27FC236}">
                <a16:creationId xmlns:a16="http://schemas.microsoft.com/office/drawing/2014/main" id="{9F2E5E4A-242C-4D86-975A-32FD8B54E5D8}"/>
              </a:ext>
            </a:extLst>
          </p:cNvPr>
          <p:cNvSpPr>
            <a:spLocks xmlns:a="http://schemas.openxmlformats.org/drawingml/2006/main" noGrp="1"/>
          </p:cNvSpPr>
          <p:nvPr/>
        </p:nvSpPr>
        <p:spPr>
          <a:xfrm xmlns:a="http://schemas.openxmlformats.org/drawingml/2006/main">
            <a:off x="647700" y="2514600"/>
            <a:ext cx="10810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22C3A"/>
                </a:solidFill>
                <a:latin typeface="Arial"/>
                <a:ea typeface="Arial"/>
                <a:cs typeface="Arial"/>
              </a:defRPr>
            </a:pPr>
            <a:r>
              <a:rPr sz="2325" b="0">
                <a:solidFill>
                  <a:srgbClr val="122C3A"/>
                </a:solidFill>
                <a:latin typeface="Arial"/>
                <a:ea typeface="Arial"/>
                <a:cs typeface="Arial"/>
              </a:rPr>
              <a:t>The fixed fairness penalty gives no consistent improvement</a:t>
            </a:r>
          </a:p>
        </p:txBody>
      </p:sp>
      <p:sp>
        <p:nvSpPr>
          <p:cNvPr id="4" name="">
            <a:extLst xmlns:a="http://schemas.openxmlformats.org/drawingml/2006/main">
              <a:ext uri="{FF2B5EF4-FFF2-40B4-BE49-F238E27FC236}">
                <a16:creationId xmlns:a16="http://schemas.microsoft.com/office/drawing/2014/main" id="{6E838FD2-E999-4A33-97E6-405004673F35}"/>
              </a:ext>
            </a:extLst>
          </p:cNvPr>
          <p:cNvSpPr>
            <a:spLocks xmlns:a="http://schemas.openxmlformats.org/drawingml/2006/main" noGrp="1"/>
          </p:cNvSpPr>
          <p:nvPr/>
        </p:nvSpPr>
        <p:spPr>
          <a:xfrm xmlns:a="http://schemas.openxmlformats.org/drawingml/2006/main">
            <a:off x="647700" y="3333750"/>
            <a:ext cx="10810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22C3A"/>
                </a:solidFill>
                <a:latin typeface="Arial"/>
                <a:ea typeface="Arial"/>
                <a:cs typeface="Arial"/>
              </a:defRPr>
            </a:pPr>
            <a:r>
              <a:rPr sz="2325" b="0">
                <a:solidFill>
                  <a:srgbClr val="122C3A"/>
                </a:solidFill>
                <a:latin typeface="Arial"/>
                <a:ea typeface="Arial"/>
                <a:cs typeface="Arial"/>
              </a:rPr>
              <a:t>Ridge MPC costs 158.8618 EUR, with losses for two households</a:t>
            </a:r>
          </a:p>
        </p:txBody>
      </p:sp>
      <p:sp>
        <p:nvSpPr>
          <p:cNvPr id="5" name="">
            <a:extLst xmlns:a="http://schemas.openxmlformats.org/drawingml/2006/main">
              <a:ext uri="{FF2B5EF4-FFF2-40B4-BE49-F238E27FC236}">
                <a16:creationId xmlns:a16="http://schemas.microsoft.com/office/drawing/2014/main" id="{254E114E-4CCF-4177-BF52-9D795D6F1D44}"/>
              </a:ext>
            </a:extLst>
          </p:cNvPr>
          <p:cNvSpPr>
            <a:spLocks xmlns:a="http://schemas.openxmlformats.org/drawingml/2006/main" noGrp="1"/>
          </p:cNvSpPr>
          <p:nvPr/>
        </p:nvSpPr>
        <p:spPr>
          <a:xfrm xmlns:a="http://schemas.openxmlformats.org/drawingml/2006/main">
            <a:off x="647700" y="4152900"/>
            <a:ext cx="10810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22C3A"/>
                </a:solidFill>
                <a:latin typeface="Arial"/>
                <a:ea typeface="Arial"/>
                <a:cs typeface="Arial"/>
              </a:defRPr>
            </a:pPr>
            <a:r>
              <a:rPr sz="2325" b="0">
                <a:solidFill>
                  <a:srgbClr val="122C3A"/>
                </a:solidFill>
                <a:latin typeface="Arial"/>
                <a:ea typeface="Arial"/>
                <a:cs typeface="Arial"/>
              </a:rPr>
              <a:t>First-step forecast accuracy and control value rank differently</a:t>
            </a:r>
          </a:p>
        </p:txBody>
      </p:sp>
      <p:sp>
        <p:nvSpPr>
          <p:cNvPr id="6" name="">
            <a:extLst xmlns:a="http://schemas.openxmlformats.org/drawingml/2006/main">
              <a:ext uri="{FF2B5EF4-FFF2-40B4-BE49-F238E27FC236}">
                <a16:creationId xmlns:a16="http://schemas.microsoft.com/office/drawing/2014/main" id="{8FE13052-FF7F-4ACA-A40A-89831102E80A}"/>
              </a:ext>
            </a:extLst>
          </p:cNvPr>
          <p:cNvSpPr>
            <a:spLocks xmlns:a="http://schemas.openxmlformats.org/drawingml/2006/main" noGrp="1"/>
          </p:cNvSpPr>
          <p:nvPr/>
        </p:nvSpPr>
        <p:spPr>
          <a:xfrm xmlns:a="http://schemas.openxmlformats.org/drawingml/2006/main">
            <a:off x="647700" y="5695950"/>
            <a:ext cx="10525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B"/>
                </a:solidFill>
                <a:latin typeface="Arial"/>
                <a:ea typeface="Arial"/>
                <a:cs typeface="Arial"/>
              </a:defRPr>
            </a:pPr>
            <a:r>
              <a:rPr sz="1650" b="0">
                <a:solidFill>
                  <a:srgbClr val="52636B"/>
                </a:solidFill>
                <a:latin typeface="Arial"/>
                <a:ea typeface="Arial"/>
                <a:cs typeface="Arial"/>
              </a:rPr>
              <a:t>June remains exploratory. Backups G and H report the later temporal evaluation.</a:t>
            </a:r>
          </a:p>
        </p:txBody>
      </p:sp>
      <p:sp>
        <p:nvSpPr>
          <p:cNvPr id="7" name="">
            <a:extLst xmlns:a="http://schemas.openxmlformats.org/drawingml/2006/main">
              <a:ext uri="{FF2B5EF4-FFF2-40B4-BE49-F238E27FC236}">
                <a16:creationId xmlns:a16="http://schemas.microsoft.com/office/drawing/2014/main" id="{BDFD5CA2-799E-44A8-B1FA-A9F1D07898E7}"/>
              </a:ext>
            </a:extLst>
          </p:cNvPr>
          <p:cNvSpPr>
            <a:spLocks xmlns:a="http://schemas.openxmlformats.org/drawingml/2006/main" noGrp="1"/>
          </p:cNvSpPr>
          <p:nvPr/>
        </p:nvSpPr>
        <p:spPr>
          <a:xfrm xmlns:a="http://schemas.openxmlformats.org/drawingml/2006/main">
            <a:off x="11334750" y="6334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B"/>
                </a:solidFill>
                <a:latin typeface="Arial"/>
                <a:ea typeface="Arial"/>
                <a:cs typeface="Arial"/>
              </a:defRPr>
            </a:pPr>
            <a:r>
              <a:rPr sz="1350" b="0">
                <a:solidFill>
                  <a:srgbClr val="52636B"/>
                </a:solidFill>
                <a:latin typeface="Arial"/>
                <a:ea typeface="Arial"/>
                <a:cs typeface="Arial"/>
              </a:rPr>
              <a:t>11</a:t>
            </a:r>
          </a:p>
        </p:txBody>
      </p:sp>
    </p:spTree>
    <p:extLst>
      <p:ext uri="{BB962C8B-B14F-4D97-AF65-F5344CB8AC3E}">
        <p14:creationId xmlns:p14="http://schemas.microsoft.com/office/powerpoint/2010/main" val="192854939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74101F3-AD0E-421B-927A-D84592B870BF}"/>
              </a:ext>
            </a:extLst>
          </p:cNvPr>
          <p:cNvSpPr>
            <a:spLocks xmlns:a="http://schemas.openxmlformats.org/drawingml/2006/main" noGrp="1"/>
          </p:cNvSpPr>
          <p:nvPr/>
        </p:nvSpPr>
        <p:spPr>
          <a:xfrm xmlns:a="http://schemas.openxmlformats.org/drawingml/2006/main">
            <a:off x="609600" y="428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22C3A"/>
                </a:solidFill>
                <a:latin typeface="Arial"/>
                <a:ea typeface="Arial"/>
                <a:cs typeface="Arial"/>
              </a:defRPr>
            </a:pPr>
            <a:r>
              <a:rPr sz="3300" b="1">
                <a:solidFill>
                  <a:srgbClr val="122C3A"/>
                </a:solidFill>
                <a:latin typeface="Arial"/>
                <a:ea typeface="Arial"/>
                <a:cs typeface="Arial"/>
              </a:rPr>
              <a:t>Conclusion</a:t>
            </a:r>
          </a:p>
        </p:txBody>
      </p:sp>
      <p:sp>
        <p:nvSpPr>
          <p:cNvPr id="2" name="">
            <a:extLst xmlns:a="http://schemas.openxmlformats.org/drawingml/2006/main">
              <a:ext uri="{FF2B5EF4-FFF2-40B4-BE49-F238E27FC236}">
                <a16:creationId xmlns:a16="http://schemas.microsoft.com/office/drawing/2014/main" id="{ADF02958-1AD6-4E66-84C3-D9D2C75EFAC0}"/>
              </a:ext>
            </a:extLst>
          </p:cNvPr>
          <p:cNvSpPr>
            <a:spLocks xmlns:a="http://schemas.openxmlformats.org/drawingml/2006/main" noGrp="1"/>
          </p:cNvSpPr>
          <p:nvPr/>
        </p:nvSpPr>
        <p:spPr>
          <a:xfrm xmlns:a="http://schemas.openxmlformats.org/drawingml/2006/main">
            <a:off x="647700" y="1695450"/>
            <a:ext cx="10810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22C3A"/>
                </a:solidFill>
                <a:latin typeface="Arial"/>
                <a:ea typeface="Arial"/>
                <a:cs typeface="Arial"/>
              </a:defRPr>
            </a:pPr>
            <a:r>
              <a:rPr sz="2325" b="0">
                <a:solidFill>
                  <a:srgbClr val="122C3A"/>
                </a:solidFill>
                <a:latin typeface="Arial"/>
                <a:ea typeface="Arial"/>
                <a:cs typeface="Arial"/>
              </a:rPr>
              <a:t>The prototype connects causal forecasts, MPC and physical accounting</a:t>
            </a:r>
          </a:p>
        </p:txBody>
      </p:sp>
      <p:sp>
        <p:nvSpPr>
          <p:cNvPr id="3" name="">
            <a:extLst xmlns:a="http://schemas.openxmlformats.org/drawingml/2006/main">
              <a:ext uri="{FF2B5EF4-FFF2-40B4-BE49-F238E27FC236}">
                <a16:creationId xmlns:a16="http://schemas.microsoft.com/office/drawing/2014/main" id="{64E24CDF-4D4B-4F61-AD2A-1079A19E2869}"/>
              </a:ext>
            </a:extLst>
          </p:cNvPr>
          <p:cNvSpPr>
            <a:spLocks xmlns:a="http://schemas.openxmlformats.org/drawingml/2006/main" noGrp="1"/>
          </p:cNvSpPr>
          <p:nvPr/>
        </p:nvSpPr>
        <p:spPr>
          <a:xfrm xmlns:a="http://schemas.openxmlformats.org/drawingml/2006/main">
            <a:off x="647700" y="2514600"/>
            <a:ext cx="10810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22C3A"/>
                </a:solidFill>
                <a:latin typeface="Arial"/>
                <a:ea typeface="Arial"/>
                <a:cs typeface="Arial"/>
              </a:defRPr>
            </a:pPr>
            <a:r>
              <a:rPr sz="2325" b="0">
                <a:solidFill>
                  <a:srgbClr val="122C3A"/>
                </a:solidFill>
                <a:latin typeface="Arial"/>
                <a:ea typeface="Arial"/>
                <a:cs typeface="Arial"/>
              </a:rPr>
              <a:t>Learning variants show no aggregate cost advantage over MPC</a:t>
            </a:r>
          </a:p>
        </p:txBody>
      </p:sp>
      <p:sp>
        <p:nvSpPr>
          <p:cNvPr id="4" name="">
            <a:extLst xmlns:a="http://schemas.openxmlformats.org/drawingml/2006/main">
              <a:ext uri="{FF2B5EF4-FFF2-40B4-BE49-F238E27FC236}">
                <a16:creationId xmlns:a16="http://schemas.microsoft.com/office/drawing/2014/main" id="{711513A3-9ACB-49E6-99DD-9EDA5C8B95BB}"/>
              </a:ext>
            </a:extLst>
          </p:cNvPr>
          <p:cNvSpPr>
            <a:spLocks xmlns:a="http://schemas.openxmlformats.org/drawingml/2006/main" noGrp="1"/>
          </p:cNvSpPr>
          <p:nvPr/>
        </p:nvSpPr>
        <p:spPr>
          <a:xfrm xmlns:a="http://schemas.openxmlformats.org/drawingml/2006/main">
            <a:off x="647700" y="3333750"/>
            <a:ext cx="10810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22C3A"/>
                </a:solidFill>
                <a:latin typeface="Arial"/>
                <a:ea typeface="Arial"/>
                <a:cs typeface="Arial"/>
              </a:defRPr>
            </a:pPr>
            <a:r>
              <a:rPr sz="2325" b="0">
                <a:solidFill>
                  <a:srgbClr val="122C3A"/>
                </a:solidFill>
                <a:latin typeface="Arial"/>
                <a:ea typeface="Arial"/>
                <a:cs typeface="Arial"/>
              </a:rPr>
              <a:t>Community gains and correct ledgers do not guarantee individual benefit</a:t>
            </a:r>
          </a:p>
        </p:txBody>
      </p:sp>
      <p:sp>
        <p:nvSpPr>
          <p:cNvPr id="5" name="">
            <a:extLst xmlns:a="http://schemas.openxmlformats.org/drawingml/2006/main">
              <a:ext uri="{FF2B5EF4-FFF2-40B4-BE49-F238E27FC236}">
                <a16:creationId xmlns:a16="http://schemas.microsoft.com/office/drawing/2014/main" id="{E16B70CD-C373-48C4-AF7E-3D379BF5DFCA}"/>
              </a:ext>
            </a:extLst>
          </p:cNvPr>
          <p:cNvSpPr>
            <a:spLocks xmlns:a="http://schemas.openxmlformats.org/drawingml/2006/main" noGrp="1"/>
          </p:cNvSpPr>
          <p:nvPr/>
        </p:nvSpPr>
        <p:spPr>
          <a:xfrm xmlns:a="http://schemas.openxmlformats.org/drawingml/2006/main">
            <a:off x="647700" y="4152900"/>
            <a:ext cx="10810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22C3A"/>
                </a:solidFill>
                <a:latin typeface="Arial"/>
                <a:ea typeface="Arial"/>
                <a:cs typeface="Arial"/>
              </a:defRPr>
            </a:pPr>
            <a:r>
              <a:rPr sz="2325" b="0">
                <a:solidFill>
                  <a:srgbClr val="122C3A"/>
                </a:solidFill>
                <a:latin typeface="Arial"/>
                <a:ea typeface="Arial"/>
                <a:cs typeface="Arial"/>
              </a:rPr>
              <a:t>Later profiles extend the evidence. Independent confirmation remains open</a:t>
            </a:r>
          </a:p>
        </p:txBody>
      </p:sp>
      <p:sp>
        <p:nvSpPr>
          <p:cNvPr id="6" name="">
            <a:extLst xmlns:a="http://schemas.openxmlformats.org/drawingml/2006/main">
              <a:ext uri="{FF2B5EF4-FFF2-40B4-BE49-F238E27FC236}">
                <a16:creationId xmlns:a16="http://schemas.microsoft.com/office/drawing/2014/main" id="{A94F01BF-9FAB-42AE-AF4A-44E2C0E38482}"/>
              </a:ext>
            </a:extLst>
          </p:cNvPr>
          <p:cNvSpPr>
            <a:spLocks xmlns:a="http://schemas.openxmlformats.org/drawingml/2006/main" noGrp="1"/>
          </p:cNvSpPr>
          <p:nvPr/>
        </p:nvSpPr>
        <p:spPr>
          <a:xfrm xmlns:a="http://schemas.openxmlformats.org/drawingml/2006/main">
            <a:off x="647700" y="5695950"/>
            <a:ext cx="10525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B"/>
                </a:solidFill>
                <a:latin typeface="Arial"/>
                <a:ea typeface="Arial"/>
                <a:cs typeface="Arial"/>
              </a:defRPr>
            </a:pPr>
            <a:r>
              <a:rPr sz="1650" b="0">
                <a:solidFill>
                  <a:srgbClr val="52636B"/>
                </a:solidFill>
                <a:latin typeface="Arial"/>
                <a:ea typeface="Arial"/>
                <a:cs typeface="Arial"/>
              </a:rPr>
              <a:t>Questions</a:t>
            </a:r>
          </a:p>
        </p:txBody>
      </p:sp>
      <p:sp>
        <p:nvSpPr>
          <p:cNvPr id="7" name="">
            <a:extLst xmlns:a="http://schemas.openxmlformats.org/drawingml/2006/main">
              <a:ext uri="{FF2B5EF4-FFF2-40B4-BE49-F238E27FC236}">
                <a16:creationId xmlns:a16="http://schemas.microsoft.com/office/drawing/2014/main" id="{D3B4762E-48F7-4344-A1E0-2EA941F8A5EF}"/>
              </a:ext>
            </a:extLst>
          </p:cNvPr>
          <p:cNvSpPr>
            <a:spLocks xmlns:a="http://schemas.openxmlformats.org/drawingml/2006/main" noGrp="1"/>
          </p:cNvSpPr>
          <p:nvPr/>
        </p:nvSpPr>
        <p:spPr>
          <a:xfrm xmlns:a="http://schemas.openxmlformats.org/drawingml/2006/main">
            <a:off x="11334750" y="6334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B"/>
                </a:solidFill>
                <a:latin typeface="Arial"/>
                <a:ea typeface="Arial"/>
                <a:cs typeface="Arial"/>
              </a:defRPr>
            </a:pPr>
            <a:r>
              <a:rPr sz="1350" b="0">
                <a:solidFill>
                  <a:srgbClr val="52636B"/>
                </a:solidFill>
                <a:latin typeface="Arial"/>
                <a:ea typeface="Arial"/>
                <a:cs typeface="Arial"/>
              </a:rPr>
              <a:t>12</a:t>
            </a:r>
          </a:p>
        </p:txBody>
      </p:sp>
    </p:spTree>
    <p:extLst>
      <p:ext uri="{BB962C8B-B14F-4D97-AF65-F5344CB8AC3E}">
        <p14:creationId xmlns:p14="http://schemas.microsoft.com/office/powerpoint/2010/main" val="2293094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B657B1A-6AC6-479A-9286-9EC05BF55875}"/>
              </a:ext>
            </a:extLst>
          </p:cNvPr>
          <p:cNvSpPr>
            <a:spLocks xmlns:a="http://schemas.openxmlformats.org/drawingml/2006/main" noGrp="1"/>
          </p:cNvSpPr>
          <p:nvPr/>
        </p:nvSpPr>
        <p:spPr>
          <a:xfrm xmlns:a="http://schemas.openxmlformats.org/drawingml/2006/main">
            <a:off x="609600" y="428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22C3A"/>
                </a:solidFill>
                <a:latin typeface="Arial"/>
                <a:ea typeface="Arial"/>
                <a:cs typeface="Arial"/>
              </a:defRPr>
            </a:pPr>
            <a:r>
              <a:rPr sz="3300" b="1">
                <a:solidFill>
                  <a:srgbClr val="122C3A"/>
                </a:solidFill>
                <a:latin typeface="Arial"/>
                <a:ea typeface="Arial"/>
                <a:cs typeface="Arial"/>
              </a:rPr>
              <a:t>Backup A  Original controller results</a:t>
            </a:r>
          </a:p>
        </p:txBody>
      </p:sp>
      <p:graphicFrame>
        <p:nvGraphicFramePr>
          <p:cNvPr id="8" name=""/>
          <p:cNvGraphicFramePr/>
          <p:nvPr/>
        </p:nvGraphicFramePr>
        <p:xfrm>
          <a:off xmlns:a="http://schemas.openxmlformats.org/drawingml/2006/main" x="609600" y="1704975"/>
          <a:ext xmlns:a="http://schemas.openxmlformats.org/drawingml/2006/main" cx="10972800" cy="3429000"/>
        </p:xfrm>
        <a:graphic xmlns:a="http://schemas.openxmlformats.org/drawingml/2006/main">
          <a:graphicData uri="http://schemas.openxmlformats.org/drawingml/2006/table">
            <a:tbl>
              <a:tblPr/>
              <a:tblGrid>
                <a:gridCol w="2743200"/>
                <a:gridCol w="2743200"/>
                <a:gridCol w="2743200"/>
                <a:gridCol w="2743200"/>
              </a:tblGrid>
              <a:tr h="571500">
                <a:tc>
                  <a:txBody>
                    <a:bodyPr/>
                    <a:lstStyle/>
                    <a:p>
                      <a:r>
                        <a:rPr sz="1875" b="1">
                          <a:solidFill>
                            <a:srgbClr val="FFFFFF"/>
                          </a:solidFill>
                          <a:latin typeface="Arial"/>
                          <a:ea typeface="Arial"/>
                          <a:cs typeface="Arial"/>
                        </a:rPr>
                        <a:t>Controller</a:t>
                      </a:r>
                    </a:p>
                  </a:txBody>
                  <a:tcPr marL="142875" marR="142875" marT="95250" marB="95250">
                    <a:solidFill>
                      <a:srgbClr val="122C3A"/>
                    </a:solidFill>
                  </a:tcPr>
                </a:tc>
                <a:tc>
                  <a:txBody>
                    <a:bodyPr/>
                    <a:lstStyle/>
                    <a:p>
                      <a:r>
                        <a:rPr sz="1875" b="1">
                          <a:solidFill>
                            <a:srgbClr val="FFFFFF"/>
                          </a:solidFill>
                          <a:latin typeface="Arial"/>
                          <a:ea typeface="Arial"/>
                          <a:cs typeface="Arial"/>
                        </a:rPr>
                        <a:t>Mean cost EUR</a:t>
                      </a:r>
                    </a:p>
                  </a:txBody>
                  <a:tcPr marL="142875" marR="142875" marT="95250" marB="95250">
                    <a:solidFill>
                      <a:srgbClr val="122C3A"/>
                    </a:solidFill>
                  </a:tcPr>
                </a:tc>
                <a:tc>
                  <a:txBody>
                    <a:bodyPr/>
                    <a:lstStyle/>
                    <a:p>
                      <a:r>
                        <a:rPr sz="1875" b="1">
                          <a:solidFill>
                            <a:srgbClr val="FFFFFF"/>
                          </a:solidFill>
                          <a:latin typeface="Arial"/>
                          <a:ea typeface="Arial"/>
                          <a:cs typeface="Arial"/>
                        </a:rPr>
                        <a:t>Seed SD EUR</a:t>
                      </a:r>
                    </a:p>
                  </a:txBody>
                  <a:tcPr marL="142875" marR="142875" marT="95250" marB="95250">
                    <a:solidFill>
                      <a:srgbClr val="122C3A"/>
                    </a:solidFill>
                  </a:tcPr>
                </a:tc>
                <a:tc>
                  <a:txBody>
                    <a:bodyPr/>
                    <a:lstStyle/>
                    <a:p>
                      <a:r>
                        <a:rPr sz="1875" b="1">
                          <a:solidFill>
                            <a:srgbClr val="FFFFFF"/>
                          </a:solidFill>
                          <a:latin typeface="Arial"/>
                          <a:ea typeface="Arial"/>
                          <a:cs typeface="Arial"/>
                        </a:rPr>
                        <a:t>Saving vs idle EUR</a:t>
                      </a:r>
                    </a:p>
                  </a:txBody>
                  <a:tcPr marL="142875" marR="142875" marT="95250" marB="95250">
                    <a:solidFill>
                      <a:srgbClr val="122C3A"/>
                    </a:solidFill>
                  </a:tcPr>
                </a:tc>
              </a:tr>
              <a:tr h="571500">
                <a:tc>
                  <a:txBody>
                    <a:bodyPr/>
                    <a:lstStyle/>
                    <a:p>
                      <a:r>
                        <a:rPr sz="1875" b="0">
                          <a:solidFill>
                            <a:srgbClr val="122C3A"/>
                          </a:solidFill>
                          <a:latin typeface="Arial"/>
                          <a:ea typeface="Arial"/>
                          <a:cs typeface="Arial"/>
                        </a:rPr>
                        <a:t>Idle</a:t>
                      </a:r>
                    </a:p>
                  </a:txBody>
                  <a:tcPr marL="142875" marR="142875" marT="95250" marB="95250">
                    <a:solidFill>
                      <a:srgbClr val="FFFFFF"/>
                    </a:solidFill>
                  </a:tcPr>
                </a:tc>
                <a:tc>
                  <a:txBody>
                    <a:bodyPr/>
                    <a:lstStyle/>
                    <a:p>
                      <a:r>
                        <a:rPr sz="1875" b="0">
                          <a:solidFill>
                            <a:srgbClr val="122C3A"/>
                          </a:solidFill>
                          <a:latin typeface="Arial"/>
                          <a:ea typeface="Arial"/>
                          <a:cs typeface="Arial"/>
                        </a:rPr>
                        <a:t>159.4083</a:t>
                      </a:r>
                    </a:p>
                  </a:txBody>
                  <a:tcPr marL="142875" marR="142875" marT="95250" marB="95250">
                    <a:solidFill>
                      <a:srgbClr val="FFFFFF"/>
                    </a:solidFill>
                  </a:tcPr>
                </a:tc>
                <a:tc>
                  <a:txBody>
                    <a:bodyPr/>
                    <a:lstStyle/>
                    <a:p>
                      <a:r>
                        <a:rPr sz="1875" b="0">
                          <a:solidFill>
                            <a:srgbClr val="122C3A"/>
                          </a:solidFill>
                          <a:latin typeface="Arial"/>
                          <a:ea typeface="Arial"/>
                          <a:cs typeface="Arial"/>
                        </a:rPr>
                        <a:t>n/a</a:t>
                      </a:r>
                    </a:p>
                  </a:txBody>
                  <a:tcPr marL="142875" marR="142875" marT="95250" marB="95250">
                    <a:solidFill>
                      <a:srgbClr val="FFFFFF"/>
                    </a:solidFill>
                  </a:tcPr>
                </a:tc>
                <a:tc>
                  <a:txBody>
                    <a:bodyPr/>
                    <a:lstStyle/>
                    <a:p>
                      <a:r>
                        <a:rPr sz="1875" b="0">
                          <a:solidFill>
                            <a:srgbClr val="122C3A"/>
                          </a:solidFill>
                          <a:latin typeface="Arial"/>
                          <a:ea typeface="Arial"/>
                          <a:cs typeface="Arial"/>
                        </a:rPr>
                        <a:t>0.0000</a:t>
                      </a:r>
                    </a:p>
                  </a:txBody>
                  <a:tcPr marL="142875" marR="142875" marT="95250" marB="95250">
                    <a:solidFill>
                      <a:srgbClr val="FFFFFF"/>
                    </a:solidFill>
                  </a:tcPr>
                </a:tc>
              </a:tr>
              <a:tr h="571500">
                <a:tc>
                  <a:txBody>
                    <a:bodyPr/>
                    <a:lstStyle/>
                    <a:p>
                      <a:r>
                        <a:rPr sz="1875" b="0">
                          <a:solidFill>
                            <a:srgbClr val="122C3A"/>
                          </a:solidFill>
                          <a:latin typeface="Arial"/>
                          <a:ea typeface="Arial"/>
                          <a:cs typeface="Arial"/>
                        </a:rPr>
                        <a:t>Rule</a:t>
                      </a:r>
                    </a:p>
                  </a:txBody>
                  <a:tcPr marL="142875" marR="142875" marT="95250" marB="95250">
                    <a:solidFill>
                      <a:srgbClr val="EFF5F5"/>
                    </a:solidFill>
                  </a:tcPr>
                </a:tc>
                <a:tc>
                  <a:txBody>
                    <a:bodyPr/>
                    <a:lstStyle/>
                    <a:p>
                      <a:r>
                        <a:rPr sz="1875" b="0">
                          <a:solidFill>
                            <a:srgbClr val="122C3A"/>
                          </a:solidFill>
                          <a:latin typeface="Arial"/>
                          <a:ea typeface="Arial"/>
                          <a:cs typeface="Arial"/>
                        </a:rPr>
                        <a:t>171.1107</a:t>
                      </a:r>
                    </a:p>
                  </a:txBody>
                  <a:tcPr marL="142875" marR="142875" marT="95250" marB="95250">
                    <a:solidFill>
                      <a:srgbClr val="EFF5F5"/>
                    </a:solidFill>
                  </a:tcPr>
                </a:tc>
                <a:tc>
                  <a:txBody>
                    <a:bodyPr/>
                    <a:lstStyle/>
                    <a:p>
                      <a:r>
                        <a:rPr sz="1875" b="0">
                          <a:solidFill>
                            <a:srgbClr val="122C3A"/>
                          </a:solidFill>
                          <a:latin typeface="Arial"/>
                          <a:ea typeface="Arial"/>
                          <a:cs typeface="Arial"/>
                        </a:rPr>
                        <a:t>n/a</a:t>
                      </a:r>
                    </a:p>
                  </a:txBody>
                  <a:tcPr marL="142875" marR="142875" marT="95250" marB="95250">
                    <a:solidFill>
                      <a:srgbClr val="EFF5F5"/>
                    </a:solidFill>
                  </a:tcPr>
                </a:tc>
                <a:tc>
                  <a:txBody>
                    <a:bodyPr/>
                    <a:lstStyle/>
                    <a:p>
                      <a:r>
                        <a:rPr sz="1875" b="0">
                          <a:solidFill>
                            <a:srgbClr val="122C3A"/>
                          </a:solidFill>
                          <a:latin typeface="Arial"/>
                          <a:ea typeface="Arial"/>
                          <a:cs typeface="Arial"/>
                        </a:rPr>
                        <a:t>−11.7024</a:t>
                      </a:r>
                    </a:p>
                  </a:txBody>
                  <a:tcPr marL="142875" marR="142875" marT="95250" marB="95250">
                    <a:solidFill>
                      <a:srgbClr val="EFF5F5"/>
                    </a:solidFill>
                  </a:tcPr>
                </a:tc>
              </a:tr>
              <a:tr h="571500">
                <a:tc>
                  <a:txBody>
                    <a:bodyPr/>
                    <a:lstStyle/>
                    <a:p>
                      <a:r>
                        <a:rPr sz="1875" b="0">
                          <a:solidFill>
                            <a:srgbClr val="122C3A"/>
                          </a:solidFill>
                          <a:latin typeface="Arial"/>
                          <a:ea typeface="Arial"/>
                          <a:cs typeface="Arial"/>
                        </a:rPr>
                        <a:t>MPC</a:t>
                      </a:r>
                    </a:p>
                  </a:txBody>
                  <a:tcPr marL="142875" marR="142875" marT="95250" marB="95250">
                    <a:solidFill>
                      <a:srgbClr val="FFFFFF"/>
                    </a:solidFill>
                  </a:tcPr>
                </a:tc>
                <a:tc>
                  <a:txBody>
                    <a:bodyPr/>
                    <a:lstStyle/>
                    <a:p>
                      <a:r>
                        <a:rPr sz="1875" b="0">
                          <a:solidFill>
                            <a:srgbClr val="122C3A"/>
                          </a:solidFill>
                          <a:latin typeface="Arial"/>
                          <a:ea typeface="Arial"/>
                          <a:cs typeface="Arial"/>
                        </a:rPr>
                        <a:t>159.1604</a:t>
                      </a:r>
                    </a:p>
                  </a:txBody>
                  <a:tcPr marL="142875" marR="142875" marT="95250" marB="95250">
                    <a:solidFill>
                      <a:srgbClr val="FFFFFF"/>
                    </a:solidFill>
                  </a:tcPr>
                </a:tc>
                <a:tc>
                  <a:txBody>
                    <a:bodyPr/>
                    <a:lstStyle/>
                    <a:p>
                      <a:r>
                        <a:rPr sz="1875" b="0">
                          <a:solidFill>
                            <a:srgbClr val="122C3A"/>
                          </a:solidFill>
                          <a:latin typeface="Arial"/>
                          <a:ea typeface="Arial"/>
                          <a:cs typeface="Arial"/>
                        </a:rPr>
                        <a:t>n/a</a:t>
                      </a:r>
                    </a:p>
                  </a:txBody>
                  <a:tcPr marL="142875" marR="142875" marT="95250" marB="95250">
                    <a:solidFill>
                      <a:srgbClr val="FFFFFF"/>
                    </a:solidFill>
                  </a:tcPr>
                </a:tc>
                <a:tc>
                  <a:txBody>
                    <a:bodyPr/>
                    <a:lstStyle/>
                    <a:p>
                      <a:r>
                        <a:rPr sz="1875" b="0">
                          <a:solidFill>
                            <a:srgbClr val="122C3A"/>
                          </a:solidFill>
                          <a:latin typeface="Arial"/>
                          <a:ea typeface="Arial"/>
                          <a:cs typeface="Arial"/>
                        </a:rPr>
                        <a:t>0.2478</a:t>
                      </a:r>
                    </a:p>
                  </a:txBody>
                  <a:tcPr marL="142875" marR="142875" marT="95250" marB="95250">
                    <a:solidFill>
                      <a:srgbClr val="FFFFFF"/>
                    </a:solidFill>
                  </a:tcPr>
                </a:tc>
              </a:tr>
              <a:tr h="571500">
                <a:tc>
                  <a:txBody>
                    <a:bodyPr/>
                    <a:lstStyle/>
                    <a:p>
                      <a:r>
                        <a:rPr sz="1875" b="0">
                          <a:solidFill>
                            <a:srgbClr val="122C3A"/>
                          </a:solidFill>
                          <a:latin typeface="Arial"/>
                          <a:ea typeface="Arial"/>
                          <a:cs typeface="Arial"/>
                        </a:rPr>
                        <a:t>IPPO</a:t>
                      </a:r>
                    </a:p>
                  </a:txBody>
                  <a:tcPr marL="142875" marR="142875" marT="95250" marB="95250">
                    <a:solidFill>
                      <a:srgbClr val="EFF5F5"/>
                    </a:solidFill>
                  </a:tcPr>
                </a:tc>
                <a:tc>
                  <a:txBody>
                    <a:bodyPr/>
                    <a:lstStyle/>
                    <a:p>
                      <a:r>
                        <a:rPr sz="1875" b="0">
                          <a:solidFill>
                            <a:srgbClr val="122C3A"/>
                          </a:solidFill>
                          <a:latin typeface="Arial"/>
                          <a:ea typeface="Arial"/>
                          <a:cs typeface="Arial"/>
                        </a:rPr>
                        <a:t>173.3106</a:t>
                      </a:r>
                    </a:p>
                  </a:txBody>
                  <a:tcPr marL="142875" marR="142875" marT="95250" marB="95250">
                    <a:solidFill>
                      <a:srgbClr val="EFF5F5"/>
                    </a:solidFill>
                  </a:tcPr>
                </a:tc>
                <a:tc>
                  <a:txBody>
                    <a:bodyPr/>
                    <a:lstStyle/>
                    <a:p>
                      <a:r>
                        <a:rPr sz="1875" b="0">
                          <a:solidFill>
                            <a:srgbClr val="122C3A"/>
                          </a:solidFill>
                          <a:latin typeface="Arial"/>
                          <a:ea typeface="Arial"/>
                          <a:cs typeface="Arial"/>
                        </a:rPr>
                        <a:t>19.5128</a:t>
                      </a:r>
                    </a:p>
                  </a:txBody>
                  <a:tcPr marL="142875" marR="142875" marT="95250" marB="95250">
                    <a:solidFill>
                      <a:srgbClr val="EFF5F5"/>
                    </a:solidFill>
                  </a:tcPr>
                </a:tc>
                <a:tc>
                  <a:txBody>
                    <a:bodyPr/>
                    <a:lstStyle/>
                    <a:p>
                      <a:r>
                        <a:rPr sz="1875" b="0">
                          <a:solidFill>
                            <a:srgbClr val="122C3A"/>
                          </a:solidFill>
                          <a:latin typeface="Arial"/>
                          <a:ea typeface="Arial"/>
                          <a:cs typeface="Arial"/>
                        </a:rPr>
                        <a:t>−13.9023</a:t>
                      </a:r>
                    </a:p>
                  </a:txBody>
                  <a:tcPr marL="142875" marR="142875" marT="95250" marB="95250">
                    <a:solidFill>
                      <a:srgbClr val="EFF5F5"/>
                    </a:solidFill>
                  </a:tcPr>
                </a:tc>
              </a:tr>
              <a:tr h="571500">
                <a:tc>
                  <a:txBody>
                    <a:bodyPr/>
                    <a:lstStyle/>
                    <a:p>
                      <a:r>
                        <a:rPr sz="1875" b="0">
                          <a:solidFill>
                            <a:srgbClr val="122C3A"/>
                          </a:solidFill>
                          <a:latin typeface="Arial"/>
                          <a:ea typeface="Arial"/>
                          <a:cs typeface="Arial"/>
                        </a:rPr>
                        <a:t>MAPPO</a:t>
                      </a:r>
                    </a:p>
                  </a:txBody>
                  <a:tcPr marL="142875" marR="142875" marT="95250" marB="95250">
                    <a:solidFill>
                      <a:srgbClr val="FFFFFF"/>
                    </a:solidFill>
                  </a:tcPr>
                </a:tc>
                <a:tc>
                  <a:txBody>
                    <a:bodyPr/>
                    <a:lstStyle/>
                    <a:p>
                      <a:r>
                        <a:rPr sz="1875" b="0">
                          <a:solidFill>
                            <a:srgbClr val="122C3A"/>
                          </a:solidFill>
                          <a:latin typeface="Arial"/>
                          <a:ea typeface="Arial"/>
                          <a:cs typeface="Arial"/>
                        </a:rPr>
                        <a:t>182.8197</a:t>
                      </a:r>
                    </a:p>
                  </a:txBody>
                  <a:tcPr marL="142875" marR="142875" marT="95250" marB="95250">
                    <a:solidFill>
                      <a:srgbClr val="FFFFFF"/>
                    </a:solidFill>
                  </a:tcPr>
                </a:tc>
                <a:tc>
                  <a:txBody>
                    <a:bodyPr/>
                    <a:lstStyle/>
                    <a:p>
                      <a:r>
                        <a:rPr sz="1875" b="0">
                          <a:solidFill>
                            <a:srgbClr val="122C3A"/>
                          </a:solidFill>
                          <a:latin typeface="Arial"/>
                          <a:ea typeface="Arial"/>
                          <a:cs typeface="Arial"/>
                        </a:rPr>
                        <a:t>22.4156</a:t>
                      </a:r>
                    </a:p>
                  </a:txBody>
                  <a:tcPr marL="142875" marR="142875" marT="95250" marB="95250">
                    <a:solidFill>
                      <a:srgbClr val="FFFFFF"/>
                    </a:solidFill>
                  </a:tcPr>
                </a:tc>
                <a:tc>
                  <a:txBody>
                    <a:bodyPr/>
                    <a:lstStyle/>
                    <a:p>
                      <a:r>
                        <a:rPr sz="1875" b="0">
                          <a:solidFill>
                            <a:srgbClr val="122C3A"/>
                          </a:solidFill>
                          <a:latin typeface="Arial"/>
                          <a:ea typeface="Arial"/>
                          <a:cs typeface="Arial"/>
                        </a:rPr>
                        <a:t>−23.4114</a:t>
                      </a:r>
                    </a:p>
                  </a:txBody>
                  <a:tcPr marL="142875" marR="142875" marT="95250" marB="9525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F86E0DA5-3BA6-4CDC-B82A-ECA17311633B}"/>
              </a:ext>
            </a:extLst>
          </p:cNvPr>
          <p:cNvSpPr>
            <a:spLocks xmlns:a="http://schemas.openxmlformats.org/drawingml/2006/main" noGrp="1"/>
          </p:cNvSpPr>
          <p:nvPr/>
        </p:nvSpPr>
        <p:spPr>
          <a:xfrm xmlns:a="http://schemas.openxmlformats.org/drawingml/2006/main">
            <a:off x="647700" y="5695950"/>
            <a:ext cx="10525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B"/>
                </a:solidFill>
                <a:latin typeface="Arial"/>
                <a:ea typeface="Arial"/>
                <a:cs typeface="Arial"/>
              </a:defRPr>
            </a:pPr>
            <a:r>
              <a:rPr sz="1650" b="0">
                <a:solidFill>
                  <a:srgbClr val="52636B"/>
                </a:solidFill>
                <a:latin typeface="Arial"/>
                <a:ea typeface="Arial"/>
                <a:cs typeface="Arial"/>
              </a:rPr>
              <a:t>SD describes variation among five training seeds, not independent households or days.</a:t>
            </a:r>
          </a:p>
        </p:txBody>
      </p:sp>
      <p:sp>
        <p:nvSpPr>
          <p:cNvPr id="4" name="">
            <a:extLst xmlns:a="http://schemas.openxmlformats.org/drawingml/2006/main">
              <a:ext uri="{FF2B5EF4-FFF2-40B4-BE49-F238E27FC236}">
                <a16:creationId xmlns:a16="http://schemas.microsoft.com/office/drawing/2014/main" id="{5371D9C8-F8FD-474F-AD3C-B20B68D0E1C4}"/>
              </a:ext>
            </a:extLst>
          </p:cNvPr>
          <p:cNvSpPr>
            <a:spLocks xmlns:a="http://schemas.openxmlformats.org/drawingml/2006/main" noGrp="1"/>
          </p:cNvSpPr>
          <p:nvPr/>
        </p:nvSpPr>
        <p:spPr>
          <a:xfrm xmlns:a="http://schemas.openxmlformats.org/drawingml/2006/main">
            <a:off x="11334750" y="6334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B"/>
                </a:solidFill>
                <a:latin typeface="Arial"/>
                <a:ea typeface="Arial"/>
                <a:cs typeface="Arial"/>
              </a:defRPr>
            </a:pPr>
            <a:r>
              <a:rPr sz="1350" b="0">
                <a:solidFill>
                  <a:srgbClr val="52636B"/>
                </a:solidFill>
                <a:latin typeface="Arial"/>
                <a:ea typeface="Arial"/>
                <a:cs typeface="Arial"/>
              </a:rPr>
              <a:t>13</a:t>
            </a:r>
          </a:p>
        </p:txBody>
      </p:sp>
    </p:spTree>
    <p:extLst>
      <p:ext uri="{BB962C8B-B14F-4D97-AF65-F5344CB8AC3E}">
        <p14:creationId xmlns:p14="http://schemas.microsoft.com/office/powerpoint/2010/main" val="18262833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4CEB87C-9005-46E6-93B2-672572800331}"/>
              </a:ext>
            </a:extLst>
          </p:cNvPr>
          <p:cNvSpPr>
            <a:spLocks xmlns:a="http://schemas.openxmlformats.org/drawingml/2006/main" noGrp="1"/>
          </p:cNvSpPr>
          <p:nvPr/>
        </p:nvSpPr>
        <p:spPr>
          <a:xfrm xmlns:a="http://schemas.openxmlformats.org/drawingml/2006/main">
            <a:off x="609600" y="428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22C3A"/>
                </a:solidFill>
                <a:latin typeface="Arial"/>
                <a:ea typeface="Arial"/>
                <a:cs typeface="Arial"/>
              </a:defRPr>
            </a:pPr>
            <a:r>
              <a:rPr sz="3300" b="1">
                <a:solidFill>
                  <a:srgbClr val="122C3A"/>
                </a:solidFill>
                <a:latin typeface="Arial"/>
                <a:ea typeface="Arial"/>
                <a:cs typeface="Arial"/>
              </a:rPr>
              <a:t>Backup B  Forecasts change MPC cost</a:t>
            </a:r>
          </a:p>
        </p:txBody>
      </p:sp>
      <p:graphicFrame>
        <p:nvGraphicFramePr>
          <p:cNvPr id="8" name="Chart"/>
          <p:cNvGraphicFramePr/>
          <p:nvPr/>
        </p:nvGraphicFramePr>
        <p:xfrm>
          <a:off xmlns:a="http://schemas.openxmlformats.org/drawingml/2006/main" x="590550" y="1619250"/>
          <a:ext xmlns:a="http://schemas.openxmlformats.org/drawingml/2006/main" cx="10953750" cy="3733800"/>
        </p:xfrm>
        <a:graphic xmlns:a="http://schemas.openxmlformats.org/drawingml/2006/main">
          <a:graphicData uri="http://schemas.openxmlformats.org/drawingml/2006/chart">
            <c:chart xmlns:r="http://schemas.openxmlformats.org/officeDocument/2006/relationships" xmlns:c="http://schemas.openxmlformats.org/drawingml/2006/chart" r:id="R3643f0c8b8784409"/>
          </a:graphicData>
        </a:graphic>
      </p:graphicFrame>
      <p:sp>
        <p:nvSpPr>
          <p:cNvPr id="3" name="">
            <a:extLst xmlns:a="http://schemas.openxmlformats.org/drawingml/2006/main">
              <a:ext uri="{FF2B5EF4-FFF2-40B4-BE49-F238E27FC236}">
                <a16:creationId xmlns:a16="http://schemas.microsoft.com/office/drawing/2014/main" id="{1E65D805-EA47-4817-9A7C-F02A55501582}"/>
              </a:ext>
            </a:extLst>
          </p:cNvPr>
          <p:cNvSpPr>
            <a:spLocks xmlns:a="http://schemas.openxmlformats.org/drawingml/2006/main" noGrp="1"/>
          </p:cNvSpPr>
          <p:nvPr/>
        </p:nvSpPr>
        <p:spPr>
          <a:xfrm xmlns:a="http://schemas.openxmlformats.org/drawingml/2006/main">
            <a:off x="647700" y="5695950"/>
            <a:ext cx="10525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B"/>
                </a:solidFill>
                <a:latin typeface="Arial"/>
                <a:ea typeface="Arial"/>
                <a:cs typeface="Arial"/>
              </a:defRPr>
            </a:pPr>
            <a:r>
              <a:rPr sz="1650" b="0">
                <a:solidFill>
                  <a:srgbClr val="52636B"/>
                </a:solidFill>
                <a:latin typeface="Arial"/>
                <a:ea typeface="Arial"/>
                <a:cs typeface="Arial"/>
              </a:rPr>
              <a:t>EUR over the same 44 episodes. Oracle uses future measurements and is non-causal.</a:t>
            </a:r>
          </a:p>
        </p:txBody>
      </p:sp>
      <p:sp>
        <p:nvSpPr>
          <p:cNvPr id="4" name="">
            <a:extLst xmlns:a="http://schemas.openxmlformats.org/drawingml/2006/main">
              <a:ext uri="{FF2B5EF4-FFF2-40B4-BE49-F238E27FC236}">
                <a16:creationId xmlns:a16="http://schemas.microsoft.com/office/drawing/2014/main" id="{6BC7E886-FE8B-41D3-9E35-1E46581B58ED}"/>
              </a:ext>
            </a:extLst>
          </p:cNvPr>
          <p:cNvSpPr>
            <a:spLocks xmlns:a="http://schemas.openxmlformats.org/drawingml/2006/main" noGrp="1"/>
          </p:cNvSpPr>
          <p:nvPr/>
        </p:nvSpPr>
        <p:spPr>
          <a:xfrm xmlns:a="http://schemas.openxmlformats.org/drawingml/2006/main">
            <a:off x="11334750" y="6334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B"/>
                </a:solidFill>
                <a:latin typeface="Arial"/>
                <a:ea typeface="Arial"/>
                <a:cs typeface="Arial"/>
              </a:defRPr>
            </a:pPr>
            <a:r>
              <a:rPr sz="1350" b="0">
                <a:solidFill>
                  <a:srgbClr val="52636B"/>
                </a:solidFill>
                <a:latin typeface="Arial"/>
                <a:ea typeface="Arial"/>
                <a:cs typeface="Arial"/>
              </a:rPr>
              <a:t>14</a:t>
            </a:r>
          </a:p>
        </p:txBody>
      </p:sp>
    </p:spTree>
    <p:extLst>
      <p:ext uri="{BB962C8B-B14F-4D97-AF65-F5344CB8AC3E}">
        <p14:creationId xmlns:p14="http://schemas.microsoft.com/office/powerpoint/2010/main" val="5855976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38B5574-5362-4B8F-BF36-9ED17697B2BF}"/>
              </a:ext>
            </a:extLst>
          </p:cNvPr>
          <p:cNvSpPr>
            <a:spLocks xmlns:a="http://schemas.openxmlformats.org/drawingml/2006/main" noGrp="1"/>
          </p:cNvSpPr>
          <p:nvPr/>
        </p:nvSpPr>
        <p:spPr>
          <a:xfrm xmlns:a="http://schemas.openxmlformats.org/drawingml/2006/main">
            <a:off x="609600" y="428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22C3A"/>
                </a:solidFill>
                <a:latin typeface="Arial"/>
                <a:ea typeface="Arial"/>
                <a:cs typeface="Arial"/>
              </a:defRPr>
            </a:pPr>
            <a:r>
              <a:rPr sz="3300" b="1">
                <a:solidFill>
                  <a:srgbClr val="122C3A"/>
                </a:solidFill>
                <a:latin typeface="Arial"/>
                <a:ea typeface="Arial"/>
                <a:cs typeface="Arial"/>
              </a:rPr>
              <a:t>Backup C  Tariffs and economic boundary</a:t>
            </a:r>
          </a:p>
        </p:txBody>
      </p:sp>
      <p:graphicFrame>
        <p:nvGraphicFramePr>
          <p:cNvPr id="8" name=""/>
          <p:cNvGraphicFramePr/>
          <p:nvPr/>
        </p:nvGraphicFramePr>
        <p:xfrm>
          <a:off xmlns:a="http://schemas.openxmlformats.org/drawingml/2006/main" x="609600" y="1704975"/>
          <a:ext xmlns:a="http://schemas.openxmlformats.org/drawingml/2006/main" cx="10972800" cy="3429000"/>
        </p:xfrm>
        <a:graphic xmlns:a="http://schemas.openxmlformats.org/drawingml/2006/main">
          <a:graphicData uri="http://schemas.openxmlformats.org/drawingml/2006/table">
            <a:tbl>
              <a:tblPr/>
              <a:tblGrid>
                <a:gridCol w="5486400"/>
                <a:gridCol w="5486400"/>
              </a:tblGrid>
              <a:tr h="571500">
                <a:tc>
                  <a:txBody>
                    <a:bodyPr/>
                    <a:lstStyle/>
                    <a:p>
                      <a:r>
                        <a:rPr sz="1875" b="1">
                          <a:solidFill>
                            <a:srgbClr val="FFFFFF"/>
                          </a:solidFill>
                          <a:latin typeface="Arial"/>
                          <a:ea typeface="Arial"/>
                          <a:cs typeface="Arial"/>
                        </a:rPr>
                        <a:t>Scenario input</a:t>
                      </a:r>
                    </a:p>
                  </a:txBody>
                  <a:tcPr marL="142875" marR="142875" marT="95250" marB="95250">
                    <a:solidFill>
                      <a:srgbClr val="122C3A"/>
                    </a:solidFill>
                  </a:tcPr>
                </a:tc>
                <a:tc>
                  <a:txBody>
                    <a:bodyPr/>
                    <a:lstStyle/>
                    <a:p>
                      <a:r>
                        <a:rPr sz="1875" b="1">
                          <a:solidFill>
                            <a:srgbClr val="FFFFFF"/>
                          </a:solidFill>
                          <a:latin typeface="Arial"/>
                          <a:ea typeface="Arial"/>
                          <a:cs typeface="Arial"/>
                        </a:rPr>
                        <a:t>Assumed value</a:t>
                      </a:r>
                    </a:p>
                  </a:txBody>
                  <a:tcPr marL="142875" marR="142875" marT="95250" marB="95250">
                    <a:solidFill>
                      <a:srgbClr val="122C3A"/>
                    </a:solidFill>
                  </a:tcPr>
                </a:tc>
              </a:tr>
              <a:tr h="571500">
                <a:tc>
                  <a:txBody>
                    <a:bodyPr/>
                    <a:lstStyle/>
                    <a:p>
                      <a:r>
                        <a:rPr sz="1875" b="0">
                          <a:solidFill>
                            <a:srgbClr val="122C3A"/>
                          </a:solidFill>
                          <a:latin typeface="Arial"/>
                          <a:ea typeface="Arial"/>
                          <a:cs typeface="Arial"/>
                        </a:rPr>
                        <a:t>Import before 07:00</a:t>
                      </a:r>
                    </a:p>
                  </a:txBody>
                  <a:tcPr marL="142875" marR="142875" marT="95250" marB="95250">
                    <a:solidFill>
                      <a:srgbClr val="FFFFFF"/>
                    </a:solidFill>
                  </a:tcPr>
                </a:tc>
                <a:tc>
                  <a:txBody>
                    <a:bodyPr/>
                    <a:lstStyle/>
                    <a:p>
                      <a:r>
                        <a:rPr sz="1875" b="0">
                          <a:solidFill>
                            <a:srgbClr val="122C3A"/>
                          </a:solidFill>
                          <a:latin typeface="Arial"/>
                          <a:ea typeface="Arial"/>
                          <a:cs typeface="Arial"/>
                        </a:rPr>
                        <a:t>0.20 EUR/kWh</a:t>
                      </a:r>
                    </a:p>
                  </a:txBody>
                  <a:tcPr marL="142875" marR="142875" marT="95250" marB="95250">
                    <a:solidFill>
                      <a:srgbClr val="FFFFFF"/>
                    </a:solidFill>
                  </a:tcPr>
                </a:tc>
              </a:tr>
              <a:tr h="571500">
                <a:tc>
                  <a:txBody>
                    <a:bodyPr/>
                    <a:lstStyle/>
                    <a:p>
                      <a:r>
                        <a:rPr sz="1875" b="0">
                          <a:solidFill>
                            <a:srgbClr val="122C3A"/>
                          </a:solidFill>
                          <a:latin typeface="Arial"/>
                          <a:ea typeface="Arial"/>
                          <a:cs typeface="Arial"/>
                        </a:rPr>
                        <a:t>Import 16:00–20:00</a:t>
                      </a:r>
                    </a:p>
                  </a:txBody>
                  <a:tcPr marL="142875" marR="142875" marT="95250" marB="95250">
                    <a:solidFill>
                      <a:srgbClr val="EFF5F5"/>
                    </a:solidFill>
                  </a:tcPr>
                </a:tc>
                <a:tc>
                  <a:txBody>
                    <a:bodyPr/>
                    <a:lstStyle/>
                    <a:p>
                      <a:r>
                        <a:rPr sz="1875" b="0">
                          <a:solidFill>
                            <a:srgbClr val="122C3A"/>
                          </a:solidFill>
                          <a:latin typeface="Arial"/>
                          <a:ea typeface="Arial"/>
                          <a:cs typeface="Arial"/>
                        </a:rPr>
                        <a:t>0.42 EUR/kWh</a:t>
                      </a:r>
                    </a:p>
                  </a:txBody>
                  <a:tcPr marL="142875" marR="142875" marT="95250" marB="95250">
                    <a:solidFill>
                      <a:srgbClr val="EFF5F5"/>
                    </a:solidFill>
                  </a:tcPr>
                </a:tc>
              </a:tr>
              <a:tr h="571500">
                <a:tc>
                  <a:txBody>
                    <a:bodyPr/>
                    <a:lstStyle/>
                    <a:p>
                      <a:r>
                        <a:rPr sz="1875" b="0">
                          <a:solidFill>
                            <a:srgbClr val="122C3A"/>
                          </a:solidFill>
                          <a:latin typeface="Arial"/>
                          <a:ea typeface="Arial"/>
                          <a:cs typeface="Arial"/>
                        </a:rPr>
                        <a:t>Other import periods</a:t>
                      </a:r>
                    </a:p>
                  </a:txBody>
                  <a:tcPr marL="142875" marR="142875" marT="95250" marB="95250">
                    <a:solidFill>
                      <a:srgbClr val="FFFFFF"/>
                    </a:solidFill>
                  </a:tcPr>
                </a:tc>
                <a:tc>
                  <a:txBody>
                    <a:bodyPr/>
                    <a:lstStyle/>
                    <a:p>
                      <a:r>
                        <a:rPr sz="1875" b="0">
                          <a:solidFill>
                            <a:srgbClr val="122C3A"/>
                          </a:solidFill>
                          <a:latin typeface="Arial"/>
                          <a:ea typeface="Arial"/>
                          <a:cs typeface="Arial"/>
                        </a:rPr>
                        <a:t>0.30 EUR/kWh</a:t>
                      </a:r>
                    </a:p>
                  </a:txBody>
                  <a:tcPr marL="142875" marR="142875" marT="95250" marB="95250">
                    <a:solidFill>
                      <a:srgbClr val="FFFFFF"/>
                    </a:solidFill>
                  </a:tcPr>
                </a:tc>
              </a:tr>
              <a:tr h="571500">
                <a:tc>
                  <a:txBody>
                    <a:bodyPr/>
                    <a:lstStyle/>
                    <a:p>
                      <a:r>
                        <a:rPr sz="1875" b="0">
                          <a:solidFill>
                            <a:srgbClr val="122C3A"/>
                          </a:solidFill>
                          <a:latin typeface="Arial"/>
                          <a:ea typeface="Arial"/>
                          <a:cs typeface="Arial"/>
                        </a:rPr>
                        <a:t>Export and local fee</a:t>
                      </a:r>
                    </a:p>
                  </a:txBody>
                  <a:tcPr marL="142875" marR="142875" marT="95250" marB="95250">
                    <a:solidFill>
                      <a:srgbClr val="EFF5F5"/>
                    </a:solidFill>
                  </a:tcPr>
                </a:tc>
                <a:tc>
                  <a:txBody>
                    <a:bodyPr/>
                    <a:lstStyle/>
                    <a:p>
                      <a:r>
                        <a:rPr sz="1875" b="0">
                          <a:solidFill>
                            <a:srgbClr val="122C3A"/>
                          </a:solidFill>
                          <a:latin typeface="Arial"/>
                          <a:ea typeface="Arial"/>
                          <a:cs typeface="Arial"/>
                        </a:rPr>
                        <a:t>0.08 and 0.02 EUR/kWh</a:t>
                      </a:r>
                    </a:p>
                  </a:txBody>
                  <a:tcPr marL="142875" marR="142875" marT="95250" marB="95250">
                    <a:solidFill>
                      <a:srgbClr val="EFF5F5"/>
                    </a:solidFill>
                  </a:tcPr>
                </a:tc>
              </a:tr>
              <a:tr h="571500">
                <a:tc>
                  <a:txBody>
                    <a:bodyPr/>
                    <a:lstStyle/>
                    <a:p>
                      <a:r>
                        <a:rPr sz="1875" b="0">
                          <a:solidFill>
                            <a:srgbClr val="122C3A"/>
                          </a:solidFill>
                          <a:latin typeface="Arial"/>
                          <a:ea typeface="Arial"/>
                          <a:cs typeface="Arial"/>
                        </a:rPr>
                        <a:t>Battery throughput cost</a:t>
                      </a:r>
                    </a:p>
                  </a:txBody>
                  <a:tcPr marL="142875" marR="142875" marT="95250" marB="95250">
                    <a:solidFill>
                      <a:srgbClr val="FFFFFF"/>
                    </a:solidFill>
                  </a:tcPr>
                </a:tc>
                <a:tc>
                  <a:txBody>
                    <a:bodyPr/>
                    <a:lstStyle/>
                    <a:p>
                      <a:r>
                        <a:rPr sz="1875" b="0">
                          <a:solidFill>
                            <a:srgbClr val="122C3A"/>
                          </a:solidFill>
                          <a:latin typeface="Arial"/>
                          <a:ea typeface="Arial"/>
                          <a:cs typeface="Arial"/>
                        </a:rPr>
                        <a:t>0.01 EUR per AC kWh</a:t>
                      </a:r>
                    </a:p>
                  </a:txBody>
                  <a:tcPr marL="142875" marR="142875" marT="95250" marB="9525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FC7AEF0F-6474-48A7-8108-5792A1EA973E}"/>
              </a:ext>
            </a:extLst>
          </p:cNvPr>
          <p:cNvSpPr>
            <a:spLocks xmlns:a="http://schemas.openxmlformats.org/drawingml/2006/main" noGrp="1"/>
          </p:cNvSpPr>
          <p:nvPr/>
        </p:nvSpPr>
        <p:spPr>
          <a:xfrm xmlns:a="http://schemas.openxmlformats.org/drawingml/2006/main">
            <a:off x="647700" y="5695950"/>
            <a:ext cx="10525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B"/>
                </a:solidFill>
                <a:latin typeface="Arial"/>
                <a:ea typeface="Arial"/>
                <a:cs typeface="Arial"/>
              </a:defRPr>
            </a:pPr>
            <a:r>
              <a:rPr sz="1650" b="0">
                <a:solidFill>
                  <a:srgbClr val="52636B"/>
                </a:solidFill>
                <a:latin typeface="Arial"/>
                <a:ea typeface="Arial"/>
                <a:cs typeface="Arial"/>
              </a:rPr>
              <a:t>Historical measured profiles replay under scenario tariffs. No observed retail bill or market-price join.</a:t>
            </a:r>
          </a:p>
        </p:txBody>
      </p:sp>
      <p:sp>
        <p:nvSpPr>
          <p:cNvPr id="4" name="">
            <a:extLst xmlns:a="http://schemas.openxmlformats.org/drawingml/2006/main">
              <a:ext uri="{FF2B5EF4-FFF2-40B4-BE49-F238E27FC236}">
                <a16:creationId xmlns:a16="http://schemas.microsoft.com/office/drawing/2014/main" id="{00F3E1E4-E086-4728-AE60-064936D20FF5}"/>
              </a:ext>
            </a:extLst>
          </p:cNvPr>
          <p:cNvSpPr>
            <a:spLocks xmlns:a="http://schemas.openxmlformats.org/drawingml/2006/main" noGrp="1"/>
          </p:cNvSpPr>
          <p:nvPr/>
        </p:nvSpPr>
        <p:spPr>
          <a:xfrm xmlns:a="http://schemas.openxmlformats.org/drawingml/2006/main">
            <a:off x="11334750" y="6334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B"/>
                </a:solidFill>
                <a:latin typeface="Arial"/>
                <a:ea typeface="Arial"/>
                <a:cs typeface="Arial"/>
              </a:defRPr>
            </a:pPr>
            <a:r>
              <a:rPr sz="1350" b="0">
                <a:solidFill>
                  <a:srgbClr val="52636B"/>
                </a:solidFill>
                <a:latin typeface="Arial"/>
                <a:ea typeface="Arial"/>
                <a:cs typeface="Arial"/>
              </a:rPr>
              <a:t>15</a:t>
            </a:r>
          </a:p>
        </p:txBody>
      </p:sp>
    </p:spTree>
    <p:extLst>
      <p:ext uri="{BB962C8B-B14F-4D97-AF65-F5344CB8AC3E}">
        <p14:creationId xmlns:p14="http://schemas.microsoft.com/office/powerpoint/2010/main" val="108973096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B716489-2E21-4CDC-9BE1-790C0B31CF40}"/>
              </a:ext>
            </a:extLst>
          </p:cNvPr>
          <p:cNvSpPr>
            <a:spLocks xmlns:a="http://schemas.openxmlformats.org/drawingml/2006/main" noGrp="1"/>
          </p:cNvSpPr>
          <p:nvPr/>
        </p:nvSpPr>
        <p:spPr>
          <a:xfrm xmlns:a="http://schemas.openxmlformats.org/drawingml/2006/main">
            <a:off x="609600" y="428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22C3A"/>
                </a:solidFill>
                <a:latin typeface="Arial"/>
                <a:ea typeface="Arial"/>
                <a:cs typeface="Arial"/>
              </a:defRPr>
            </a:pPr>
            <a:r>
              <a:rPr sz="3300" b="1">
                <a:solidFill>
                  <a:srgbClr val="122C3A"/>
                </a:solidFill>
                <a:latin typeface="Arial"/>
                <a:ea typeface="Arial"/>
                <a:cs typeface="Arial"/>
              </a:rPr>
              <a:t>Backup D  June risk and household outcomes</a:t>
            </a:r>
          </a:p>
        </p:txBody>
      </p:sp>
      <p:sp>
        <p:nvSpPr>
          <p:cNvPr id="2" name="">
            <a:extLst xmlns:a="http://schemas.openxmlformats.org/drawingml/2006/main">
              <a:ext uri="{FF2B5EF4-FFF2-40B4-BE49-F238E27FC236}">
                <a16:creationId xmlns:a16="http://schemas.microsoft.com/office/drawing/2014/main" id="{C4C827B2-0FC5-4FA1-A242-E26134F431ED}"/>
              </a:ext>
            </a:extLst>
          </p:cNvPr>
          <p:cNvSpPr>
            <a:spLocks xmlns:a="http://schemas.openxmlformats.org/drawingml/2006/main" noGrp="1"/>
          </p:cNvSpPr>
          <p:nvPr/>
        </p:nvSpPr>
        <p:spPr>
          <a:xfrm xmlns:a="http://schemas.openxmlformats.org/drawingml/2006/main">
            <a:off x="647700" y="1695450"/>
            <a:ext cx="10810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22C3A"/>
                </a:solidFill>
                <a:latin typeface="Arial"/>
                <a:ea typeface="Arial"/>
                <a:cs typeface="Arial"/>
              </a:defRPr>
            </a:pPr>
            <a:r>
              <a:rPr sz="2325" b="0">
                <a:solidFill>
                  <a:srgbClr val="122C3A"/>
                </a:solidFill>
                <a:latin typeface="Arial"/>
                <a:ea typeface="Arial"/>
                <a:cs typeface="Arial"/>
              </a:rPr>
              <a:t>CVaR95 averages the worst 5% of episode costs</a:t>
            </a:r>
          </a:p>
        </p:txBody>
      </p:sp>
      <p:sp>
        <p:nvSpPr>
          <p:cNvPr id="3" name="">
            <a:extLst xmlns:a="http://schemas.openxmlformats.org/drawingml/2006/main">
              <a:ext uri="{FF2B5EF4-FFF2-40B4-BE49-F238E27FC236}">
                <a16:creationId xmlns:a16="http://schemas.microsoft.com/office/drawing/2014/main" id="{30CF4578-DC26-40DF-B940-7A71F3E601F3}"/>
              </a:ext>
            </a:extLst>
          </p:cNvPr>
          <p:cNvSpPr>
            <a:spLocks xmlns:a="http://schemas.openxmlformats.org/drawingml/2006/main" noGrp="1"/>
          </p:cNvSpPr>
          <p:nvPr/>
        </p:nvSpPr>
        <p:spPr>
          <a:xfrm xmlns:a="http://schemas.openxmlformats.org/drawingml/2006/main">
            <a:off x="647700" y="2514600"/>
            <a:ext cx="10810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22C3A"/>
                </a:solidFill>
                <a:latin typeface="Arial"/>
                <a:ea typeface="Arial"/>
                <a:cs typeface="Arial"/>
              </a:defRPr>
            </a:pPr>
            <a:r>
              <a:rPr sz="2325" b="0">
                <a:solidFill>
                  <a:srgbClr val="122C3A"/>
                </a:solidFill>
                <a:latin typeface="Arial"/>
                <a:ea typeface="Arial"/>
                <a:cs typeface="Arial"/>
              </a:rPr>
              <a:t>44 episodes provide only 2.2 tail episode-equivalents</a:t>
            </a:r>
          </a:p>
        </p:txBody>
      </p:sp>
      <p:sp>
        <p:nvSpPr>
          <p:cNvPr id="4" name="">
            <a:extLst xmlns:a="http://schemas.openxmlformats.org/drawingml/2006/main">
              <a:ext uri="{FF2B5EF4-FFF2-40B4-BE49-F238E27FC236}">
                <a16:creationId xmlns:a16="http://schemas.microsoft.com/office/drawing/2014/main" id="{AAEC2C05-9116-47C0-87ED-9D7508A8D8AC}"/>
              </a:ext>
            </a:extLst>
          </p:cNvPr>
          <p:cNvSpPr>
            <a:spLocks xmlns:a="http://schemas.openxmlformats.org/drawingml/2006/main" noGrp="1"/>
          </p:cNvSpPr>
          <p:nvPr/>
        </p:nvSpPr>
        <p:spPr>
          <a:xfrm xmlns:a="http://schemas.openxmlformats.org/drawingml/2006/main">
            <a:off x="647700" y="3333750"/>
            <a:ext cx="10810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22C3A"/>
                </a:solidFill>
                <a:latin typeface="Arial"/>
                <a:ea typeface="Arial"/>
                <a:cs typeface="Arial"/>
              </a:defRPr>
            </a:pPr>
            <a:r>
              <a:rPr sz="2325" b="0">
                <a:solidFill>
                  <a:srgbClr val="122C3A"/>
                </a:solidFill>
                <a:latin typeface="Arial"/>
                <a:ea typeface="Arial"/>
                <a:cs typeface="Arial"/>
              </a:rPr>
              <a:t>Ridge MPC saves in total while H1 and H5 lose relative to idle</a:t>
            </a:r>
          </a:p>
        </p:txBody>
      </p:sp>
      <p:sp>
        <p:nvSpPr>
          <p:cNvPr id="5" name="">
            <a:extLst xmlns:a="http://schemas.openxmlformats.org/drawingml/2006/main">
              <a:ext uri="{FF2B5EF4-FFF2-40B4-BE49-F238E27FC236}">
                <a16:creationId xmlns:a16="http://schemas.microsoft.com/office/drawing/2014/main" id="{4D9E2D0B-5613-431A-95AB-DE2911DD3339}"/>
              </a:ext>
            </a:extLst>
          </p:cNvPr>
          <p:cNvSpPr>
            <a:spLocks xmlns:a="http://schemas.openxmlformats.org/drawingml/2006/main" noGrp="1"/>
          </p:cNvSpPr>
          <p:nvPr/>
        </p:nvSpPr>
        <p:spPr>
          <a:xfrm xmlns:a="http://schemas.openxmlformats.org/drawingml/2006/main">
            <a:off x="647700" y="4152900"/>
            <a:ext cx="10810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22C3A"/>
                </a:solidFill>
                <a:latin typeface="Arial"/>
                <a:ea typeface="Arial"/>
                <a:cs typeface="Arial"/>
              </a:defRPr>
            </a:pPr>
            <a:r>
              <a:rPr sz="2325" b="0">
                <a:solidFill>
                  <a:srgbClr val="122C3A"/>
                </a:solidFill>
                <a:latin typeface="Arial"/>
                <a:ea typeface="Arial"/>
                <a:cs typeface="Arial"/>
              </a:rPr>
              <a:t>A community saving does not establish individual rationality</a:t>
            </a:r>
          </a:p>
        </p:txBody>
      </p:sp>
      <p:sp>
        <p:nvSpPr>
          <p:cNvPr id="6" name="">
            <a:extLst xmlns:a="http://schemas.openxmlformats.org/drawingml/2006/main">
              <a:ext uri="{FF2B5EF4-FFF2-40B4-BE49-F238E27FC236}">
                <a16:creationId xmlns:a16="http://schemas.microsoft.com/office/drawing/2014/main" id="{8AE11116-2010-429E-A6C4-15264D86DB5B}"/>
              </a:ext>
            </a:extLst>
          </p:cNvPr>
          <p:cNvSpPr>
            <a:spLocks xmlns:a="http://schemas.openxmlformats.org/drawingml/2006/main" noGrp="1"/>
          </p:cNvSpPr>
          <p:nvPr/>
        </p:nvSpPr>
        <p:spPr>
          <a:xfrm xmlns:a="http://schemas.openxmlformats.org/drawingml/2006/main">
            <a:off x="647700" y="5695950"/>
            <a:ext cx="10525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B"/>
                </a:solidFill>
                <a:latin typeface="Arial"/>
                <a:ea typeface="Arial"/>
                <a:cs typeface="Arial"/>
              </a:defRPr>
            </a:pPr>
            <a:r>
              <a:rPr sz="1650" b="0">
                <a:solidFill>
                  <a:srgbClr val="52636B"/>
                </a:solidFill>
                <a:latin typeface="Arial"/>
                <a:ea typeface="Arial"/>
                <a:cs typeface="Arial"/>
              </a:rPr>
              <a:t>No daily risk budget or learned fairness guarantee is enforced.</a:t>
            </a:r>
          </a:p>
        </p:txBody>
      </p:sp>
      <p:sp>
        <p:nvSpPr>
          <p:cNvPr id="7" name="">
            <a:extLst xmlns:a="http://schemas.openxmlformats.org/drawingml/2006/main">
              <a:ext uri="{FF2B5EF4-FFF2-40B4-BE49-F238E27FC236}">
                <a16:creationId xmlns:a16="http://schemas.microsoft.com/office/drawing/2014/main" id="{831AE41E-9661-4195-BF65-A0FBF4F5A1E7}"/>
              </a:ext>
            </a:extLst>
          </p:cNvPr>
          <p:cNvSpPr>
            <a:spLocks xmlns:a="http://schemas.openxmlformats.org/drawingml/2006/main" noGrp="1"/>
          </p:cNvSpPr>
          <p:nvPr/>
        </p:nvSpPr>
        <p:spPr>
          <a:xfrm xmlns:a="http://schemas.openxmlformats.org/drawingml/2006/main">
            <a:off x="11334750" y="6334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B"/>
                </a:solidFill>
                <a:latin typeface="Arial"/>
                <a:ea typeface="Arial"/>
                <a:cs typeface="Arial"/>
              </a:defRPr>
            </a:pPr>
            <a:r>
              <a:rPr sz="1350" b="0">
                <a:solidFill>
                  <a:srgbClr val="52636B"/>
                </a:solidFill>
                <a:latin typeface="Arial"/>
                <a:ea typeface="Arial"/>
                <a:cs typeface="Arial"/>
              </a:rPr>
              <a:t>16</a:t>
            </a:r>
          </a:p>
        </p:txBody>
      </p:sp>
    </p:spTree>
    <p:extLst>
      <p:ext uri="{BB962C8B-B14F-4D97-AF65-F5344CB8AC3E}">
        <p14:creationId xmlns:p14="http://schemas.microsoft.com/office/powerpoint/2010/main" val="200735895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6474C10-A8F0-44A3-9CB7-631AABF81B4C}"/>
              </a:ext>
            </a:extLst>
          </p:cNvPr>
          <p:cNvSpPr>
            <a:spLocks xmlns:a="http://schemas.openxmlformats.org/drawingml/2006/main" noGrp="1"/>
          </p:cNvSpPr>
          <p:nvPr/>
        </p:nvSpPr>
        <p:spPr>
          <a:xfrm xmlns:a="http://schemas.openxmlformats.org/drawingml/2006/main">
            <a:off x="609600" y="428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22C3A"/>
                </a:solidFill>
                <a:latin typeface="Arial"/>
                <a:ea typeface="Arial"/>
                <a:cs typeface="Arial"/>
              </a:defRPr>
            </a:pPr>
            <a:r>
              <a:rPr sz="3300" b="1">
                <a:solidFill>
                  <a:srgbClr val="122C3A"/>
                </a:solidFill>
                <a:latin typeface="Arial"/>
                <a:ea typeface="Arial"/>
                <a:cs typeface="Arial"/>
              </a:rPr>
              <a:t>Backup E  Evidence and demo route</a:t>
            </a:r>
          </a:p>
        </p:txBody>
      </p:sp>
      <p:sp>
        <p:nvSpPr>
          <p:cNvPr id="2" name="">
            <a:extLst xmlns:a="http://schemas.openxmlformats.org/drawingml/2006/main">
              <a:ext uri="{FF2B5EF4-FFF2-40B4-BE49-F238E27FC236}">
                <a16:creationId xmlns:a16="http://schemas.microsoft.com/office/drawing/2014/main" id="{CD852715-827D-4904-85F7-CACFA941F505}"/>
              </a:ext>
            </a:extLst>
          </p:cNvPr>
          <p:cNvSpPr>
            <a:spLocks xmlns:a="http://schemas.openxmlformats.org/drawingml/2006/main" noGrp="1"/>
          </p:cNvSpPr>
          <p:nvPr/>
        </p:nvSpPr>
        <p:spPr>
          <a:xfrm xmlns:a="http://schemas.openxmlformats.org/drawingml/2006/main">
            <a:off x="647700" y="1695450"/>
            <a:ext cx="10810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22C3A"/>
                </a:solidFill>
                <a:latin typeface="Arial"/>
                <a:ea typeface="Arial"/>
                <a:cs typeface="Arial"/>
              </a:defRPr>
            </a:pPr>
            <a:r>
              <a:rPr sz="2325" b="0">
                <a:solidFill>
                  <a:srgbClr val="122C3A"/>
                </a:solidFill>
                <a:latin typeface="Arial"/>
                <a:ea typeface="Arial"/>
                <a:cs typeface="Arial"/>
              </a:rPr>
              <a:t>Open the offline results viewer for controller and household outcomes</a:t>
            </a:r>
          </a:p>
        </p:txBody>
      </p:sp>
      <p:sp>
        <p:nvSpPr>
          <p:cNvPr id="3" name="">
            <a:extLst xmlns:a="http://schemas.openxmlformats.org/drawingml/2006/main">
              <a:ext uri="{FF2B5EF4-FFF2-40B4-BE49-F238E27FC236}">
                <a16:creationId xmlns:a16="http://schemas.microsoft.com/office/drawing/2014/main" id="{1A7CF4A6-0B65-4E53-8234-848ABEE246F4}"/>
              </a:ext>
            </a:extLst>
          </p:cNvPr>
          <p:cNvSpPr>
            <a:spLocks xmlns:a="http://schemas.openxmlformats.org/drawingml/2006/main" noGrp="1"/>
          </p:cNvSpPr>
          <p:nvPr/>
        </p:nvSpPr>
        <p:spPr>
          <a:xfrm xmlns:a="http://schemas.openxmlformats.org/drawingml/2006/main">
            <a:off x="647700" y="2514600"/>
            <a:ext cx="10810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22C3A"/>
                </a:solidFill>
                <a:latin typeface="Arial"/>
                <a:ea typeface="Arial"/>
                <a:cs typeface="Arial"/>
              </a:defRPr>
            </a:pPr>
            <a:r>
              <a:rPr sz="2325" b="0">
                <a:solidFill>
                  <a:srgbClr val="122C3A"/>
                </a:solidFill>
                <a:latin typeface="Arial"/>
                <a:ea typeface="Arial"/>
                <a:cs typeface="Arial"/>
              </a:rPr>
              <a:t>Inspect the 60-run ablation and four-arm forecast results</a:t>
            </a:r>
          </a:p>
        </p:txBody>
      </p:sp>
      <p:sp>
        <p:nvSpPr>
          <p:cNvPr id="4" name="">
            <a:extLst xmlns:a="http://schemas.openxmlformats.org/drawingml/2006/main">
              <a:ext uri="{FF2B5EF4-FFF2-40B4-BE49-F238E27FC236}">
                <a16:creationId xmlns:a16="http://schemas.microsoft.com/office/drawing/2014/main" id="{C02163C1-87D6-4D1D-8F25-5AE15330452C}"/>
              </a:ext>
            </a:extLst>
          </p:cNvPr>
          <p:cNvSpPr>
            <a:spLocks xmlns:a="http://schemas.openxmlformats.org/drawingml/2006/main" noGrp="1"/>
          </p:cNvSpPr>
          <p:nvPr/>
        </p:nvSpPr>
        <p:spPr>
          <a:xfrm xmlns:a="http://schemas.openxmlformats.org/drawingml/2006/main">
            <a:off x="647700" y="3333750"/>
            <a:ext cx="10810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22C3A"/>
                </a:solidFill>
                <a:latin typeface="Arial"/>
                <a:ea typeface="Arial"/>
                <a:cs typeface="Arial"/>
              </a:defRPr>
            </a:pPr>
            <a:r>
              <a:rPr sz="2325" b="0">
                <a:solidFill>
                  <a:srgbClr val="122C3A"/>
                </a:solidFill>
                <a:latin typeface="Arial"/>
                <a:ea typeface="Arial"/>
                <a:cs typeface="Arial"/>
              </a:rPr>
              <a:t>Use both original and follow-up evidence verification scripts</a:t>
            </a:r>
          </a:p>
        </p:txBody>
      </p:sp>
      <p:sp>
        <p:nvSpPr>
          <p:cNvPr id="5" name="">
            <a:extLst xmlns:a="http://schemas.openxmlformats.org/drawingml/2006/main">
              <a:ext uri="{FF2B5EF4-FFF2-40B4-BE49-F238E27FC236}">
                <a16:creationId xmlns:a16="http://schemas.microsoft.com/office/drawing/2014/main" id="{4BF40BED-6D70-4ED7-8180-9E766020A24A}"/>
              </a:ext>
            </a:extLst>
          </p:cNvPr>
          <p:cNvSpPr>
            <a:spLocks xmlns:a="http://schemas.openxmlformats.org/drawingml/2006/main" noGrp="1"/>
          </p:cNvSpPr>
          <p:nvPr/>
        </p:nvSpPr>
        <p:spPr>
          <a:xfrm xmlns:a="http://schemas.openxmlformats.org/drawingml/2006/main">
            <a:off x="647700" y="4152900"/>
            <a:ext cx="10810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22C3A"/>
                </a:solidFill>
                <a:latin typeface="Arial"/>
                <a:ea typeface="Arial"/>
                <a:cs typeface="Arial"/>
              </a:defRPr>
            </a:pPr>
            <a:r>
              <a:rPr sz="2325" b="0">
                <a:solidFill>
                  <a:srgbClr val="122C3A"/>
                </a:solidFill>
                <a:latin typeface="Arial"/>
                <a:ea typeface="Arial"/>
                <a:cs typeface="Arial"/>
              </a:rPr>
              <a:t>Saved-policy replay matches the recorded follow-up costs</a:t>
            </a:r>
          </a:p>
        </p:txBody>
      </p:sp>
      <p:sp>
        <p:nvSpPr>
          <p:cNvPr id="6" name="">
            <a:extLst xmlns:a="http://schemas.openxmlformats.org/drawingml/2006/main">
              <a:ext uri="{FF2B5EF4-FFF2-40B4-BE49-F238E27FC236}">
                <a16:creationId xmlns:a16="http://schemas.microsoft.com/office/drawing/2014/main" id="{C2F85785-7E7D-4E5F-B89F-C7CB994B6E78}"/>
              </a:ext>
            </a:extLst>
          </p:cNvPr>
          <p:cNvSpPr>
            <a:spLocks xmlns:a="http://schemas.openxmlformats.org/drawingml/2006/main" noGrp="1"/>
          </p:cNvSpPr>
          <p:nvPr/>
        </p:nvSpPr>
        <p:spPr>
          <a:xfrm xmlns:a="http://schemas.openxmlformats.org/drawingml/2006/main">
            <a:off x="647700" y="5695950"/>
            <a:ext cx="10525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B"/>
                </a:solidFill>
                <a:latin typeface="Arial"/>
                <a:ea typeface="Arial"/>
                <a:cs typeface="Arial"/>
              </a:defRPr>
            </a:pPr>
            <a:r>
              <a:rPr sz="1650" b="0">
                <a:solidFill>
                  <a:srgbClr val="52636B"/>
                </a:solidFill>
                <a:latin typeface="Arial"/>
                <a:ea typeface="Arial"/>
                <a:cs typeface="Arial"/>
              </a:rPr>
              <a:t>The offline viewer displays recorded results. A fresh evaluation is a separate command.</a:t>
            </a:r>
          </a:p>
        </p:txBody>
      </p:sp>
      <p:sp>
        <p:nvSpPr>
          <p:cNvPr id="7" name="">
            <a:extLst xmlns:a="http://schemas.openxmlformats.org/drawingml/2006/main">
              <a:ext uri="{FF2B5EF4-FFF2-40B4-BE49-F238E27FC236}">
                <a16:creationId xmlns:a16="http://schemas.microsoft.com/office/drawing/2014/main" id="{318DDC6A-32D5-4E1D-B621-CDDEC59EAF72}"/>
              </a:ext>
            </a:extLst>
          </p:cNvPr>
          <p:cNvSpPr>
            <a:spLocks xmlns:a="http://schemas.openxmlformats.org/drawingml/2006/main" noGrp="1"/>
          </p:cNvSpPr>
          <p:nvPr/>
        </p:nvSpPr>
        <p:spPr>
          <a:xfrm xmlns:a="http://schemas.openxmlformats.org/drawingml/2006/main">
            <a:off x="11334750" y="6334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B"/>
                </a:solidFill>
                <a:latin typeface="Arial"/>
                <a:ea typeface="Arial"/>
                <a:cs typeface="Arial"/>
              </a:defRPr>
            </a:pPr>
            <a:r>
              <a:rPr sz="1350" b="0">
                <a:solidFill>
                  <a:srgbClr val="52636B"/>
                </a:solidFill>
                <a:latin typeface="Arial"/>
                <a:ea typeface="Arial"/>
                <a:cs typeface="Arial"/>
              </a:rPr>
              <a:t>17</a:t>
            </a:r>
          </a:p>
        </p:txBody>
      </p:sp>
    </p:spTree>
    <p:extLst>
      <p:ext uri="{BB962C8B-B14F-4D97-AF65-F5344CB8AC3E}">
        <p14:creationId xmlns:p14="http://schemas.microsoft.com/office/powerpoint/2010/main" val="61765717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5EC64B6-2515-444B-974B-F1CB7D0B6971}"/>
              </a:ext>
            </a:extLst>
          </p:cNvPr>
          <p:cNvSpPr>
            <a:spLocks xmlns:a="http://schemas.openxmlformats.org/drawingml/2006/main" noGrp="1"/>
          </p:cNvSpPr>
          <p:nvPr/>
        </p:nvSpPr>
        <p:spPr>
          <a:xfrm xmlns:a="http://schemas.openxmlformats.org/drawingml/2006/main">
            <a:off x="609600" y="428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22C3A"/>
                </a:solidFill>
                <a:latin typeface="Arial"/>
                <a:ea typeface="Arial"/>
                <a:cs typeface="Arial"/>
              </a:defRPr>
            </a:pPr>
            <a:r>
              <a:rPr sz="3300" b="1">
                <a:solidFill>
                  <a:srgbClr val="122C3A"/>
                </a:solidFill>
                <a:latin typeface="Arial"/>
                <a:ea typeface="Arial"/>
                <a:cs typeface="Arial"/>
              </a:rPr>
              <a:t>Backup F  Selected primary sources</a:t>
            </a:r>
          </a:p>
        </p:txBody>
      </p:sp>
      <p:sp>
        <p:nvSpPr>
          <p:cNvPr id="2" name="">
            <a:extLst xmlns:a="http://schemas.openxmlformats.org/drawingml/2006/main">
              <a:ext uri="{FF2B5EF4-FFF2-40B4-BE49-F238E27FC236}">
                <a16:creationId xmlns:a16="http://schemas.microsoft.com/office/drawing/2014/main" id="{5184024C-504E-48D6-8510-84DC626E4DAD}"/>
              </a:ext>
            </a:extLst>
          </p:cNvPr>
          <p:cNvSpPr>
            <a:spLocks xmlns:a="http://schemas.openxmlformats.org/drawingml/2006/main" noGrp="1"/>
          </p:cNvSpPr>
          <p:nvPr/>
        </p:nvSpPr>
        <p:spPr>
          <a:xfrm xmlns:a="http://schemas.openxmlformats.org/drawingml/2006/main">
            <a:off x="647700" y="1695450"/>
            <a:ext cx="10810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22C3A"/>
                </a:solidFill>
                <a:latin typeface="Arial"/>
                <a:ea typeface="Arial"/>
                <a:cs typeface="Arial"/>
              </a:defRPr>
            </a:pPr>
            <a:r>
              <a:rPr sz="2325" b="0">
                <a:solidFill>
                  <a:srgbClr val="122C3A"/>
                </a:solidFill>
                <a:latin typeface="Arial"/>
                <a:ea typeface="Arial"/>
                <a:cs typeface="Arial"/>
              </a:rPr>
              <a:t>Trivedi et al. (2024), StoreNet community dataset</a:t>
            </a:r>
          </a:p>
        </p:txBody>
      </p:sp>
      <p:sp>
        <p:nvSpPr>
          <p:cNvPr id="3" name="">
            <a:extLst xmlns:a="http://schemas.openxmlformats.org/drawingml/2006/main">
              <a:ext uri="{FF2B5EF4-FFF2-40B4-BE49-F238E27FC236}">
                <a16:creationId xmlns:a16="http://schemas.microsoft.com/office/drawing/2014/main" id="{4E11FCB0-A90D-4EE6-91F3-B4DF1E4F1906}"/>
              </a:ext>
            </a:extLst>
          </p:cNvPr>
          <p:cNvSpPr>
            <a:spLocks xmlns:a="http://schemas.openxmlformats.org/drawingml/2006/main" noGrp="1"/>
          </p:cNvSpPr>
          <p:nvPr/>
        </p:nvSpPr>
        <p:spPr>
          <a:xfrm xmlns:a="http://schemas.openxmlformats.org/drawingml/2006/main">
            <a:off x="647700" y="2514600"/>
            <a:ext cx="10810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22C3A"/>
                </a:solidFill>
                <a:latin typeface="Arial"/>
                <a:ea typeface="Arial"/>
                <a:cs typeface="Arial"/>
              </a:defRPr>
            </a:pPr>
            <a:r>
              <a:rPr sz="2325" b="0">
                <a:solidFill>
                  <a:srgbClr val="122C3A"/>
                </a:solidFill>
                <a:latin typeface="Arial"/>
                <a:ea typeface="Arial"/>
                <a:cs typeface="Arial"/>
              </a:rPr>
              <a:t>Yu et al. (2021/2022), PPO in cooperative multi-agent games</a:t>
            </a:r>
          </a:p>
        </p:txBody>
      </p:sp>
      <p:sp>
        <p:nvSpPr>
          <p:cNvPr id="4" name="">
            <a:extLst xmlns:a="http://schemas.openxmlformats.org/drawingml/2006/main">
              <a:ext uri="{FF2B5EF4-FFF2-40B4-BE49-F238E27FC236}">
                <a16:creationId xmlns:a16="http://schemas.microsoft.com/office/drawing/2014/main" id="{CE82B0F3-C2BD-4053-B194-6C822309A215}"/>
              </a:ext>
            </a:extLst>
          </p:cNvPr>
          <p:cNvSpPr>
            <a:spLocks xmlns:a="http://schemas.openxmlformats.org/drawingml/2006/main" noGrp="1"/>
          </p:cNvSpPr>
          <p:nvPr/>
        </p:nvSpPr>
        <p:spPr>
          <a:xfrm xmlns:a="http://schemas.openxmlformats.org/drawingml/2006/main">
            <a:off x="647700" y="3333750"/>
            <a:ext cx="10810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22C3A"/>
                </a:solidFill>
                <a:latin typeface="Arial"/>
                <a:ea typeface="Arial"/>
                <a:cs typeface="Arial"/>
              </a:defRPr>
            </a:pPr>
            <a:r>
              <a:rPr sz="2325" b="0">
                <a:solidFill>
                  <a:srgbClr val="122C3A"/>
                </a:solidFill>
                <a:latin typeface="Arial"/>
                <a:ea typeface="Arial"/>
                <a:cs typeface="Arial"/>
              </a:rPr>
              <a:t>Jain et al. (1984), resource-allocation fairness</a:t>
            </a:r>
          </a:p>
        </p:txBody>
      </p:sp>
      <p:sp>
        <p:nvSpPr>
          <p:cNvPr id="5" name="">
            <a:extLst xmlns:a="http://schemas.openxmlformats.org/drawingml/2006/main">
              <a:ext uri="{FF2B5EF4-FFF2-40B4-BE49-F238E27FC236}">
                <a16:creationId xmlns:a16="http://schemas.microsoft.com/office/drawing/2014/main" id="{A177B0DA-9381-4A24-832D-2D5F493A4362}"/>
              </a:ext>
            </a:extLst>
          </p:cNvPr>
          <p:cNvSpPr>
            <a:spLocks xmlns:a="http://schemas.openxmlformats.org/drawingml/2006/main" noGrp="1"/>
          </p:cNvSpPr>
          <p:nvPr/>
        </p:nvSpPr>
        <p:spPr>
          <a:xfrm xmlns:a="http://schemas.openxmlformats.org/drawingml/2006/main">
            <a:off x="647700" y="4152900"/>
            <a:ext cx="10810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22C3A"/>
                </a:solidFill>
                <a:latin typeface="Arial"/>
                <a:ea typeface="Arial"/>
                <a:cs typeface="Arial"/>
              </a:defRPr>
            </a:pPr>
            <a:r>
              <a:rPr sz="2325" b="0">
                <a:solidFill>
                  <a:srgbClr val="122C3A"/>
                </a:solidFill>
                <a:latin typeface="Arial"/>
                <a:ea typeface="Arial"/>
                <a:cs typeface="Arial"/>
              </a:rPr>
              <a:t>Rockafellar and Uryasev (2000), conditional value at risk</a:t>
            </a:r>
          </a:p>
        </p:txBody>
      </p:sp>
      <p:sp>
        <p:nvSpPr>
          <p:cNvPr id="6" name="">
            <a:extLst xmlns:a="http://schemas.openxmlformats.org/drawingml/2006/main">
              <a:ext uri="{FF2B5EF4-FFF2-40B4-BE49-F238E27FC236}">
                <a16:creationId xmlns:a16="http://schemas.microsoft.com/office/drawing/2014/main" id="{9F3ADB1A-94F0-4036-9CED-60D91082E083}"/>
              </a:ext>
            </a:extLst>
          </p:cNvPr>
          <p:cNvSpPr>
            <a:spLocks xmlns:a="http://schemas.openxmlformats.org/drawingml/2006/main" noGrp="1"/>
          </p:cNvSpPr>
          <p:nvPr/>
        </p:nvSpPr>
        <p:spPr>
          <a:xfrm xmlns:a="http://schemas.openxmlformats.org/drawingml/2006/main">
            <a:off x="647700" y="4972050"/>
            <a:ext cx="10810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22C3A"/>
                </a:solidFill>
                <a:latin typeface="Arial"/>
                <a:ea typeface="Arial"/>
                <a:cs typeface="Arial"/>
              </a:defRPr>
            </a:pPr>
            <a:r>
              <a:rPr sz="2325" b="0">
                <a:solidFill>
                  <a:srgbClr val="122C3A"/>
                </a:solidFill>
                <a:latin typeface="Arial"/>
                <a:ea typeface="Arial"/>
                <a:cs typeface="Arial"/>
              </a:rPr>
              <a:t>Wüst and Gervais (2018), blockchain trust-model decision</a:t>
            </a:r>
          </a:p>
        </p:txBody>
      </p:sp>
      <p:sp>
        <p:nvSpPr>
          <p:cNvPr id="7" name="">
            <a:extLst xmlns:a="http://schemas.openxmlformats.org/drawingml/2006/main">
              <a:ext uri="{FF2B5EF4-FFF2-40B4-BE49-F238E27FC236}">
                <a16:creationId xmlns:a16="http://schemas.microsoft.com/office/drawing/2014/main" id="{A186DE65-7498-4AE8-97FA-EA07890DB9B1}"/>
              </a:ext>
            </a:extLst>
          </p:cNvPr>
          <p:cNvSpPr>
            <a:spLocks xmlns:a="http://schemas.openxmlformats.org/drawingml/2006/main" noGrp="1"/>
          </p:cNvSpPr>
          <p:nvPr/>
        </p:nvSpPr>
        <p:spPr>
          <a:xfrm xmlns:a="http://schemas.openxmlformats.org/drawingml/2006/main">
            <a:off x="647700" y="5695950"/>
            <a:ext cx="10525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36B"/>
                </a:solidFill>
                <a:latin typeface="Arial"/>
                <a:ea typeface="Arial"/>
                <a:cs typeface="Arial"/>
              </a:defRPr>
            </a:pPr>
            <a:r>
              <a:rPr sz="1650" b="0">
                <a:solidFill>
                  <a:srgbClr val="52636B"/>
                </a:solidFill>
                <a:latin typeface="Arial"/>
                <a:ea typeface="Arial"/>
                <a:cs typeface="Arial"/>
              </a:rPr>
              <a:t>Complete references and links appear in the manuscript and speaker notes.</a:t>
            </a:r>
          </a:p>
        </p:txBody>
      </p:sp>
      <p:sp>
        <p:nvSpPr>
          <p:cNvPr id="8" name="">
            <a:extLst xmlns:a="http://schemas.openxmlformats.org/drawingml/2006/main">
              <a:ext uri="{FF2B5EF4-FFF2-40B4-BE49-F238E27FC236}">
                <a16:creationId xmlns:a16="http://schemas.microsoft.com/office/drawing/2014/main" id="{7E3213C0-460F-479F-A749-AC0EE7D93203}"/>
              </a:ext>
            </a:extLst>
          </p:cNvPr>
          <p:cNvSpPr>
            <a:spLocks xmlns:a="http://schemas.openxmlformats.org/drawingml/2006/main" noGrp="1"/>
          </p:cNvSpPr>
          <p:nvPr/>
        </p:nvSpPr>
        <p:spPr>
          <a:xfrm xmlns:a="http://schemas.openxmlformats.org/drawingml/2006/main">
            <a:off x="11334750" y="6334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2636B"/>
                </a:solidFill>
                <a:latin typeface="Arial"/>
                <a:ea typeface="Arial"/>
                <a:cs typeface="Arial"/>
              </a:defRPr>
            </a:pPr>
            <a:r>
              <a:rPr sz="1350" b="0">
                <a:solidFill>
                  <a:srgbClr val="52636B"/>
                </a:solidFill>
                <a:latin typeface="Arial"/>
                <a:ea typeface="Arial"/>
                <a:cs typeface="Arial"/>
              </a:rPr>
              <a:t>18</a:t>
            </a:r>
          </a:p>
        </p:txBody>
      </p:sp>
    </p:spTree>
    <p:extLst>
      <p:ext uri="{BB962C8B-B14F-4D97-AF65-F5344CB8AC3E}">
        <p14:creationId xmlns:p14="http://schemas.microsoft.com/office/powerpoint/2010/main" val="112657129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B9921AE-5F38-41F3-A71B-E928544E6827}"/>
              </a:ext>
            </a:extLst>
          </p:cNvPr>
          <p:cNvSpPr>
            <a:spLocks xmlns:a="http://schemas.openxmlformats.org/drawingml/2006/main" noGrp="1"/>
          </p:cNvSpPr>
          <p:nvPr/>
        </p:nvSpPr>
        <p:spPr>
          <a:xfrm xmlns:a="http://schemas.openxmlformats.org/drawingml/2006/main">
            <a:off x="609600" y="428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2C3A"/>
                </a:solidFill>
                <a:latin typeface="Arial"/>
                <a:ea typeface="Arial"/>
                <a:cs typeface="Arial"/>
              </a:defRPr>
            </a:pPr>
            <a:r>
              <a:rPr sz="3300" b="1">
                <a:solidFill>
                  <a:srgbClr val="122C3A"/>
                </a:solidFill>
                <a:latin typeface="Arial"/>
                <a:ea typeface="Arial"/>
                <a:cs typeface="Arial"/>
              </a:rPr>
              <a:t>Backup G  Later period outcomes</a:t>
            </a:r>
          </a:p>
        </p:txBody>
      </p:sp>
      <p:sp>
        <p:nvSpPr>
          <p:cNvPr id="2" name="">
            <a:extLst xmlns:a="http://schemas.openxmlformats.org/drawingml/2006/main">
              <a:ext uri="{FF2B5EF4-FFF2-40B4-BE49-F238E27FC236}">
                <a16:creationId xmlns:a16="http://schemas.microsoft.com/office/drawing/2014/main" id="{3A84299E-1115-46F7-9B0A-CA1DFF20C771}"/>
              </a:ext>
            </a:extLst>
          </p:cNvPr>
          <p:cNvSpPr>
            <a:spLocks xmlns:a="http://schemas.openxmlformats.org/drawingml/2006/main" noGrp="1"/>
          </p:cNvSpPr>
          <p:nvPr/>
        </p:nvSpPr>
        <p:spPr>
          <a:xfrm xmlns:a="http://schemas.openxmlformats.org/drawingml/2006/main">
            <a:off x="11334750" y="6334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36B"/>
                </a:solidFill>
                <a:latin typeface="Arial"/>
                <a:ea typeface="Arial"/>
                <a:cs typeface="Arial"/>
              </a:defRPr>
            </a:pPr>
            <a:r>
              <a:rPr sz="1350" b="0">
                <a:solidFill>
                  <a:srgbClr val="52636B"/>
                </a:solidFill>
                <a:latin typeface="Arial"/>
                <a:ea typeface="Arial"/>
                <a:cs typeface="Arial"/>
              </a:rPr>
              <a:t>19</a:t>
            </a:r>
          </a:p>
        </p:txBody>
      </p:sp>
      <p:graphicFrame>
        <p:nvGraphicFramePr>
          <p:cNvPr id="7" name=""/>
          <p:cNvGraphicFramePr/>
          <p:nvPr/>
        </p:nvGraphicFramePr>
        <p:xfrm>
          <a:off xmlns:a="http://schemas.openxmlformats.org/drawingml/2006/main" x="647700" y="1600200"/>
          <a:ext xmlns:a="http://schemas.openxmlformats.org/drawingml/2006/main" cx="10810875" cy="3638550"/>
        </p:xfrm>
        <a:graphic xmlns:a="http://schemas.openxmlformats.org/drawingml/2006/main">
          <a:graphicData uri="http://schemas.openxmlformats.org/drawingml/2006/table">
            <a:tbl>
              <a:tblPr/>
              <a:tblGrid>
                <a:gridCol w="5429250"/>
                <a:gridCol w="2381250"/>
                <a:gridCol w="3000375"/>
              </a:tblGrid>
              <a:tr h="519793">
                <a:tc>
                  <a:txBody>
                    <a:bodyPr/>
                    <a:lstStyle/>
                    <a:p>
                      <a:r>
                        <a:rPr sz="1950" b="1">
                          <a:solidFill>
                            <a:srgbClr val="122C3A"/>
                          </a:solidFill>
                          <a:latin typeface="Arial"/>
                          <a:ea typeface="Arial"/>
                          <a:cs typeface="Arial"/>
                        </a:rPr>
                        <a:t>Controller</a:t>
                      </a:r>
                    </a:p>
                  </a:txBody>
                  <a:tcPr marL="91440" marR="91440" marT="45720" marB="45720">
                    <a:solidFill>
                      <a:srgbClr val="E9EFF2"/>
                    </a:solidFill>
                  </a:tcPr>
                </a:tc>
                <a:tc>
                  <a:txBody>
                    <a:bodyPr/>
                    <a:lstStyle/>
                    <a:p>
                      <a:r>
                        <a:rPr sz="1950" b="1">
                          <a:solidFill>
                            <a:srgbClr val="122C3A"/>
                          </a:solidFill>
                          <a:latin typeface="Arial"/>
                          <a:ea typeface="Arial"/>
                          <a:cs typeface="Arial"/>
                        </a:rPr>
                        <a:t>Cost EUR</a:t>
                      </a:r>
                    </a:p>
                  </a:txBody>
                  <a:tcPr marL="91440" marR="91440" marT="45720" marB="45720">
                    <a:solidFill>
                      <a:srgbClr val="E9EFF2"/>
                    </a:solidFill>
                  </a:tcPr>
                </a:tc>
                <a:tc>
                  <a:txBody>
                    <a:bodyPr/>
                    <a:lstStyle/>
                    <a:p>
                      <a:r>
                        <a:rPr sz="1950" b="1">
                          <a:solidFill>
                            <a:srgbClr val="122C3A"/>
                          </a:solidFill>
                          <a:latin typeface="Arial"/>
                          <a:ea typeface="Arial"/>
                          <a:cs typeface="Arial"/>
                        </a:rPr>
                        <a:t>Saving vs idle EUR</a:t>
                      </a:r>
                    </a:p>
                  </a:txBody>
                  <a:tcPr marL="91440" marR="91440" marT="45720" marB="45720">
                    <a:solidFill>
                      <a:srgbClr val="E9EFF2"/>
                    </a:solidFill>
                  </a:tcPr>
                </a:tc>
              </a:tr>
              <a:tr h="519793">
                <a:tc>
                  <a:txBody>
                    <a:bodyPr/>
                    <a:lstStyle/>
                    <a:p>
                      <a:r>
                        <a:rPr sz="1950" b="0">
                          <a:solidFill>
                            <a:srgbClr val="122C3A"/>
                          </a:solidFill>
                          <a:latin typeface="Arial"/>
                          <a:ea typeface="Arial"/>
                          <a:cs typeface="Arial"/>
                        </a:rPr>
                        <a:t>Idle sharing</a:t>
                      </a:r>
                    </a:p>
                  </a:txBody>
                  <a:tcPr marL="91440" marR="91440" marT="45720" marB="45720">
                    <a:solidFill>
                      <a:srgbClr val="FFFFFF"/>
                    </a:solidFill>
                  </a:tcPr>
                </a:tc>
                <a:tc>
                  <a:txBody>
                    <a:bodyPr/>
                    <a:lstStyle/>
                    <a:p>
                      <a:r>
                        <a:rPr sz="1950" b="0">
                          <a:solidFill>
                            <a:srgbClr val="122C3A"/>
                          </a:solidFill>
                          <a:latin typeface="Arial"/>
                          <a:ea typeface="Arial"/>
                          <a:cs typeface="Arial"/>
                        </a:rPr>
                        <a:t>1947.4997</a:t>
                      </a:r>
                    </a:p>
                  </a:txBody>
                  <a:tcPr marL="91440" marR="91440" marT="45720" marB="45720">
                    <a:solidFill>
                      <a:srgbClr val="FFFFFF"/>
                    </a:solidFill>
                  </a:tcPr>
                </a:tc>
                <a:tc>
                  <a:txBody>
                    <a:bodyPr/>
                    <a:lstStyle/>
                    <a:p>
                      <a:r>
                        <a:rPr sz="1950" b="0">
                          <a:solidFill>
                            <a:srgbClr val="122C3A"/>
                          </a:solidFill>
                          <a:latin typeface="Arial"/>
                          <a:ea typeface="Arial"/>
                          <a:cs typeface="Arial"/>
                        </a:rPr>
                        <a:t>0.0000</a:t>
                      </a:r>
                    </a:p>
                  </a:txBody>
                  <a:tcPr marL="91440" marR="91440" marT="45720" marB="45720">
                    <a:solidFill>
                      <a:srgbClr val="FFFFFF"/>
                    </a:solidFill>
                  </a:tcPr>
                </a:tc>
              </a:tr>
              <a:tr h="519793">
                <a:tc>
                  <a:txBody>
                    <a:bodyPr/>
                    <a:lstStyle/>
                    <a:p>
                      <a:r>
                        <a:rPr sz="1950" b="0">
                          <a:solidFill>
                            <a:srgbClr val="122C3A"/>
                          </a:solidFill>
                          <a:latin typeface="Arial"/>
                          <a:ea typeface="Arial"/>
                          <a:cs typeface="Arial"/>
                        </a:rPr>
                        <a:t>Self-consumption rule</a:t>
                      </a:r>
                    </a:p>
                  </a:txBody>
                  <a:tcPr marL="91440" marR="91440" marT="45720" marB="45720">
                    <a:solidFill>
                      <a:srgbClr val="F7F8F9"/>
                    </a:solidFill>
                  </a:tcPr>
                </a:tc>
                <a:tc>
                  <a:txBody>
                    <a:bodyPr/>
                    <a:lstStyle/>
                    <a:p>
                      <a:r>
                        <a:rPr sz="1950" b="0">
                          <a:solidFill>
                            <a:srgbClr val="122C3A"/>
                          </a:solidFill>
                          <a:latin typeface="Arial"/>
                          <a:ea typeface="Arial"/>
                          <a:cs typeface="Arial"/>
                        </a:rPr>
                        <a:t>2065.3425</a:t>
                      </a:r>
                    </a:p>
                  </a:txBody>
                  <a:tcPr marL="91440" marR="91440" marT="45720" marB="45720">
                    <a:solidFill>
                      <a:srgbClr val="F7F8F9"/>
                    </a:solidFill>
                  </a:tcPr>
                </a:tc>
                <a:tc>
                  <a:txBody>
                    <a:bodyPr/>
                    <a:lstStyle/>
                    <a:p>
                      <a:r>
                        <a:rPr sz="1950" b="0">
                          <a:solidFill>
                            <a:srgbClr val="122C3A"/>
                          </a:solidFill>
                          <a:latin typeface="Arial"/>
                          <a:ea typeface="Arial"/>
                          <a:cs typeface="Arial"/>
                        </a:rPr>
                        <a:t>−117.8428</a:t>
                      </a:r>
                    </a:p>
                  </a:txBody>
                  <a:tcPr marL="91440" marR="91440" marT="45720" marB="45720">
                    <a:solidFill>
                      <a:srgbClr val="F7F8F9"/>
                    </a:solidFill>
                  </a:tcPr>
                </a:tc>
              </a:tr>
              <a:tr h="519793">
                <a:tc>
                  <a:txBody>
                    <a:bodyPr/>
                    <a:lstStyle/>
                    <a:p>
                      <a:r>
                        <a:rPr sz="1950" b="0">
                          <a:solidFill>
                            <a:srgbClr val="122C3A"/>
                          </a:solidFill>
                          <a:latin typeface="Arial"/>
                          <a:ea typeface="Arial"/>
                          <a:cs typeface="Arial"/>
                        </a:rPr>
                        <a:t>Persistence MPC</a:t>
                      </a:r>
                    </a:p>
                  </a:txBody>
                  <a:tcPr marL="91440" marR="91440" marT="45720" marB="45720">
                    <a:solidFill>
                      <a:srgbClr val="FFFFFF"/>
                    </a:solidFill>
                  </a:tcPr>
                </a:tc>
                <a:tc>
                  <a:txBody>
                    <a:bodyPr/>
                    <a:lstStyle/>
                    <a:p>
                      <a:r>
                        <a:rPr sz="1950" b="0">
                          <a:solidFill>
                            <a:srgbClr val="122C3A"/>
                          </a:solidFill>
                          <a:latin typeface="Arial"/>
                          <a:ea typeface="Arial"/>
                          <a:cs typeface="Arial"/>
                        </a:rPr>
                        <a:t>1946.6754</a:t>
                      </a:r>
                    </a:p>
                  </a:txBody>
                  <a:tcPr marL="91440" marR="91440" marT="45720" marB="45720">
                    <a:solidFill>
                      <a:srgbClr val="FFFFFF"/>
                    </a:solidFill>
                  </a:tcPr>
                </a:tc>
                <a:tc>
                  <a:txBody>
                    <a:bodyPr/>
                    <a:lstStyle/>
                    <a:p>
                      <a:r>
                        <a:rPr sz="1950" b="0">
                          <a:solidFill>
                            <a:srgbClr val="122C3A"/>
                          </a:solidFill>
                          <a:latin typeface="Arial"/>
                          <a:ea typeface="Arial"/>
                          <a:cs typeface="Arial"/>
                        </a:rPr>
                        <a:t>0.8243</a:t>
                      </a:r>
                    </a:p>
                  </a:txBody>
                  <a:tcPr marL="91440" marR="91440" marT="45720" marB="45720">
                    <a:solidFill>
                      <a:srgbClr val="FFFFFF"/>
                    </a:solidFill>
                  </a:tcPr>
                </a:tc>
              </a:tr>
              <a:tr h="519793">
                <a:tc>
                  <a:txBody>
                    <a:bodyPr/>
                    <a:lstStyle/>
                    <a:p>
                      <a:r>
                        <a:rPr sz="1950" b="0">
                          <a:solidFill>
                            <a:srgbClr val="122C3A"/>
                          </a:solidFill>
                          <a:latin typeface="Arial"/>
                          <a:ea typeface="Arial"/>
                          <a:cs typeface="Arial"/>
                        </a:rPr>
                        <a:t>Previous-day MPC</a:t>
                      </a:r>
                    </a:p>
                  </a:txBody>
                  <a:tcPr marL="91440" marR="91440" marT="45720" marB="45720">
                    <a:solidFill>
                      <a:srgbClr val="F7F8F9"/>
                    </a:solidFill>
                  </a:tcPr>
                </a:tc>
                <a:tc>
                  <a:txBody>
                    <a:bodyPr/>
                    <a:lstStyle/>
                    <a:p>
                      <a:r>
                        <a:rPr sz="1950" b="0">
                          <a:solidFill>
                            <a:srgbClr val="122C3A"/>
                          </a:solidFill>
                          <a:latin typeface="Arial"/>
                          <a:ea typeface="Arial"/>
                          <a:cs typeface="Arial"/>
                        </a:rPr>
                        <a:t>1966.2359</a:t>
                      </a:r>
                    </a:p>
                  </a:txBody>
                  <a:tcPr marL="91440" marR="91440" marT="45720" marB="45720">
                    <a:solidFill>
                      <a:srgbClr val="F7F8F9"/>
                    </a:solidFill>
                  </a:tcPr>
                </a:tc>
                <a:tc>
                  <a:txBody>
                    <a:bodyPr/>
                    <a:lstStyle/>
                    <a:p>
                      <a:r>
                        <a:rPr sz="1950" b="0">
                          <a:solidFill>
                            <a:srgbClr val="122C3A"/>
                          </a:solidFill>
                          <a:latin typeface="Arial"/>
                          <a:ea typeface="Arial"/>
                          <a:cs typeface="Arial"/>
                        </a:rPr>
                        <a:t>−18.7361</a:t>
                      </a:r>
                    </a:p>
                  </a:txBody>
                  <a:tcPr marL="91440" marR="91440" marT="45720" marB="45720">
                    <a:solidFill>
                      <a:srgbClr val="F7F8F9"/>
                    </a:solidFill>
                  </a:tcPr>
                </a:tc>
              </a:tr>
              <a:tr h="519793">
                <a:tc>
                  <a:txBody>
                    <a:bodyPr/>
                    <a:lstStyle/>
                    <a:p>
                      <a:r>
                        <a:rPr sz="1950" b="0">
                          <a:solidFill>
                            <a:srgbClr val="122C3A"/>
                          </a:solidFill>
                          <a:latin typeface="Arial"/>
                          <a:ea typeface="Arial"/>
                          <a:cs typeface="Arial"/>
                        </a:rPr>
                        <a:t>Ridge MPC</a:t>
                      </a:r>
                    </a:p>
                  </a:txBody>
                  <a:tcPr marL="91440" marR="91440" marT="45720" marB="45720">
                    <a:solidFill>
                      <a:srgbClr val="FFFFFF"/>
                    </a:solidFill>
                  </a:tcPr>
                </a:tc>
                <a:tc>
                  <a:txBody>
                    <a:bodyPr/>
                    <a:lstStyle/>
                    <a:p>
                      <a:r>
                        <a:rPr sz="1950" b="0">
                          <a:solidFill>
                            <a:srgbClr val="122C3A"/>
                          </a:solidFill>
                          <a:latin typeface="Arial"/>
                          <a:ea typeface="Arial"/>
                          <a:cs typeface="Arial"/>
                        </a:rPr>
                        <a:t>1939.3432</a:t>
                      </a:r>
                    </a:p>
                  </a:txBody>
                  <a:tcPr marL="91440" marR="91440" marT="45720" marB="45720">
                    <a:solidFill>
                      <a:srgbClr val="FFFFFF"/>
                    </a:solidFill>
                  </a:tcPr>
                </a:tc>
                <a:tc>
                  <a:txBody>
                    <a:bodyPr/>
                    <a:lstStyle/>
                    <a:p>
                      <a:r>
                        <a:rPr sz="1950" b="0">
                          <a:solidFill>
                            <a:srgbClr val="122C3A"/>
                          </a:solidFill>
                          <a:latin typeface="Arial"/>
                          <a:ea typeface="Arial"/>
                          <a:cs typeface="Arial"/>
                        </a:rPr>
                        <a:t>8.1565</a:t>
                      </a:r>
                    </a:p>
                  </a:txBody>
                  <a:tcPr marL="91440" marR="91440" marT="45720" marB="45720">
                    <a:solidFill>
                      <a:srgbClr val="FFFFFF"/>
                    </a:solidFill>
                  </a:tcPr>
                </a:tc>
              </a:tr>
              <a:tr h="519793">
                <a:tc>
                  <a:txBody>
                    <a:bodyPr/>
                    <a:lstStyle/>
                    <a:p>
                      <a:r>
                        <a:rPr sz="1950" b="0">
                          <a:solidFill>
                            <a:srgbClr val="122C3A"/>
                          </a:solidFill>
                          <a:latin typeface="Arial"/>
                          <a:ea typeface="Arial"/>
                          <a:cs typeface="Arial"/>
                        </a:rPr>
                        <a:t>Discrete IPPO 300, five-seed mean</a:t>
                      </a:r>
                    </a:p>
                  </a:txBody>
                  <a:tcPr marL="91440" marR="91440" marT="45720" marB="45720">
                    <a:solidFill>
                      <a:srgbClr val="F7F8F9"/>
                    </a:solidFill>
                  </a:tcPr>
                </a:tc>
                <a:tc>
                  <a:txBody>
                    <a:bodyPr/>
                    <a:lstStyle/>
                    <a:p>
                      <a:r>
                        <a:rPr sz="1950" b="0">
                          <a:solidFill>
                            <a:srgbClr val="122C3A"/>
                          </a:solidFill>
                          <a:latin typeface="Arial"/>
                          <a:ea typeface="Arial"/>
                          <a:cs typeface="Arial"/>
                        </a:rPr>
                        <a:t>1947.4997</a:t>
                      </a:r>
                    </a:p>
                  </a:txBody>
                  <a:tcPr marL="91440" marR="91440" marT="45720" marB="45720">
                    <a:solidFill>
                      <a:srgbClr val="F7F8F9"/>
                    </a:solidFill>
                  </a:tcPr>
                </a:tc>
                <a:tc>
                  <a:txBody>
                    <a:bodyPr/>
                    <a:lstStyle/>
                    <a:p>
                      <a:r>
                        <a:rPr sz="1950" b="0">
                          <a:solidFill>
                            <a:srgbClr val="122C3A"/>
                          </a:solidFill>
                          <a:latin typeface="Arial"/>
                          <a:ea typeface="Arial"/>
                          <a:cs typeface="Arial"/>
                        </a:rPr>
                        <a:t>0.0000</a:t>
                      </a:r>
                    </a:p>
                  </a:txBody>
                  <a:tcPr marL="91440" marR="91440" marT="45720" marB="45720">
                    <a:solidFill>
                      <a:srgbClr val="F7F8F9"/>
                    </a:solidFill>
                  </a:tcPr>
                </a:tc>
              </a:tr>
            </a:tbl>
          </a:graphicData>
        </a:graphic>
      </p:graphicFrame>
      <p:sp>
        <p:nvSpPr>
          <p:cNvPr id="4" name="">
            <a:extLst xmlns:a="http://schemas.openxmlformats.org/drawingml/2006/main">
              <a:ext uri="{FF2B5EF4-FFF2-40B4-BE49-F238E27FC236}">
                <a16:creationId xmlns:a16="http://schemas.microsoft.com/office/drawing/2014/main" id="{B4996530-120C-475B-9805-8CA4426EA421}"/>
              </a:ext>
            </a:extLst>
          </p:cNvPr>
          <p:cNvSpPr>
            <a:spLocks xmlns:a="http://schemas.openxmlformats.org/drawingml/2006/main" noGrp="1"/>
          </p:cNvSpPr>
          <p:nvPr/>
        </p:nvSpPr>
        <p:spPr>
          <a:xfrm xmlns:a="http://schemas.openxmlformats.org/drawingml/2006/main">
            <a:off x="647700" y="5619750"/>
            <a:ext cx="10525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36B"/>
                </a:solidFill>
                <a:latin typeface="Arial"/>
                <a:ea typeface="Arial"/>
                <a:cs typeface="Arial"/>
              </a:defRPr>
            </a:pPr>
            <a:r>
              <a:rPr sz="1650" b="0">
                <a:solidFill>
                  <a:srgbClr val="52636B"/>
                </a:solidFill>
                <a:latin typeface="Arial"/>
                <a:ea typeface="Arial"/>
                <a:cs typeface="Arial"/>
              </a:rPr>
              <a:t>501 common episodes, July–December 2020. Frozen models, scenario tariffs.</a:t>
            </a:r>
          </a:p>
        </p:txBody>
      </p:sp>
    </p:spTree>
    <p:extLst>
      <p:ext uri="{BB962C8B-B14F-4D97-AF65-F5344CB8AC3E}">
        <p14:creationId xmlns:p14="http://schemas.microsoft.com/office/powerpoint/2010/main" val="917785427"/>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C288A93-5E27-477E-ACCF-4ADDA0043D95}"/>
              </a:ext>
            </a:extLst>
          </p:cNvPr>
          <p:cNvSpPr>
            <a:spLocks xmlns:a="http://schemas.openxmlformats.org/drawingml/2006/main" noGrp="1"/>
          </p:cNvSpPr>
          <p:nvPr/>
        </p:nvSpPr>
        <p:spPr>
          <a:xfrm xmlns:a="http://schemas.openxmlformats.org/drawingml/2006/main">
            <a:off x="609600" y="428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2C3A"/>
                </a:solidFill>
                <a:latin typeface="Arial"/>
                <a:ea typeface="Arial"/>
                <a:cs typeface="Arial"/>
              </a:defRPr>
            </a:pPr>
            <a:r>
              <a:rPr sz="3300" b="1">
                <a:solidFill>
                  <a:srgbClr val="122C3A"/>
                </a:solidFill>
                <a:latin typeface="Arial"/>
                <a:ea typeface="Arial"/>
                <a:cs typeface="Arial"/>
              </a:rPr>
              <a:t>Backup H  Coverage and uncertainty</a:t>
            </a:r>
          </a:p>
        </p:txBody>
      </p:sp>
      <p:sp>
        <p:nvSpPr>
          <p:cNvPr id="2" name="">
            <a:extLst xmlns:a="http://schemas.openxmlformats.org/drawingml/2006/main">
              <a:ext uri="{FF2B5EF4-FFF2-40B4-BE49-F238E27FC236}">
                <a16:creationId xmlns:a16="http://schemas.microsoft.com/office/drawing/2014/main" id="{80827EA9-2531-4819-8691-B34019E41D5E}"/>
              </a:ext>
            </a:extLst>
          </p:cNvPr>
          <p:cNvSpPr>
            <a:spLocks xmlns:a="http://schemas.openxmlformats.org/drawingml/2006/main" noGrp="1"/>
          </p:cNvSpPr>
          <p:nvPr/>
        </p:nvSpPr>
        <p:spPr>
          <a:xfrm xmlns:a="http://schemas.openxmlformats.org/drawingml/2006/main">
            <a:off x="11334750" y="63341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36B"/>
                </a:solidFill>
                <a:latin typeface="Arial"/>
                <a:ea typeface="Arial"/>
                <a:cs typeface="Arial"/>
              </a:defRPr>
            </a:pPr>
            <a:r>
              <a:rPr sz="1350" b="0">
                <a:solidFill>
                  <a:srgbClr val="52636B"/>
                </a:solidFill>
                <a:latin typeface="Arial"/>
                <a:ea typeface="Arial"/>
                <a:cs typeface="Arial"/>
              </a:rPr>
              <a:t>20</a:t>
            </a:r>
          </a:p>
        </p:txBody>
      </p:sp>
      <p:sp>
        <p:nvSpPr>
          <p:cNvPr id="3" name="">
            <a:extLst xmlns:a="http://schemas.openxmlformats.org/drawingml/2006/main">
              <a:ext uri="{FF2B5EF4-FFF2-40B4-BE49-F238E27FC236}">
                <a16:creationId xmlns:a16="http://schemas.microsoft.com/office/drawing/2014/main" id="{41C6F9BD-CCA8-4F0A-8660-2607ACB9567F}"/>
              </a:ext>
            </a:extLst>
          </p:cNvPr>
          <p:cNvSpPr>
            <a:spLocks xmlns:a="http://schemas.openxmlformats.org/drawingml/2006/main" noGrp="1"/>
          </p:cNvSpPr>
          <p:nvPr/>
        </p:nvSpPr>
        <p:spPr>
          <a:xfrm xmlns:a="http://schemas.openxmlformats.org/drawingml/2006/main">
            <a:off x="647700" y="1695450"/>
            <a:ext cx="10810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22C3A"/>
                </a:solidFill>
                <a:latin typeface="Arial"/>
                <a:ea typeface="Arial"/>
                <a:cs typeface="Arial"/>
              </a:defRPr>
            </a:pPr>
            <a:r>
              <a:rPr sz="2325" b="0">
                <a:solidFill>
                  <a:srgbClr val="122C3A"/>
                </a:solidFill>
                <a:latin typeface="Arial"/>
                <a:ea typeface="Arial"/>
                <a:cs typeface="Arial"/>
              </a:rPr>
              <a:t>501 episodes across 168 days cover 45.38% of candidate blocks</a:t>
            </a:r>
          </a:p>
        </p:txBody>
      </p:sp>
      <p:sp>
        <p:nvSpPr>
          <p:cNvPr id="4" name="">
            <a:extLst xmlns:a="http://schemas.openxmlformats.org/drawingml/2006/main">
              <a:ext uri="{FF2B5EF4-FFF2-40B4-BE49-F238E27FC236}">
                <a16:creationId xmlns:a16="http://schemas.microsoft.com/office/drawing/2014/main" id="{2E38B0B2-6003-4719-8CDD-53D137C0635F}"/>
              </a:ext>
            </a:extLst>
          </p:cNvPr>
          <p:cNvSpPr>
            <a:spLocks xmlns:a="http://schemas.openxmlformats.org/drawingml/2006/main" noGrp="1"/>
          </p:cNvSpPr>
          <p:nvPr/>
        </p:nvSpPr>
        <p:spPr>
          <a:xfrm xmlns:a="http://schemas.openxmlformats.org/drawingml/2006/main">
            <a:off x="647700" y="2514600"/>
            <a:ext cx="10810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22C3A"/>
                </a:solidFill>
                <a:latin typeface="Arial"/>
                <a:ea typeface="Arial"/>
                <a:cs typeface="Arial"/>
              </a:defRPr>
            </a:pPr>
            <a:r>
              <a:rPr sz="2325" b="0">
                <a:solidFill>
                  <a:srgbClr val="122C3A"/>
                </a:solidFill>
                <a:latin typeface="Arial"/>
                <a:ea typeface="Arial"/>
                <a:cs typeface="Arial"/>
              </a:rPr>
              <a:t>Only 1 midnight and 11 morning blocks starting at 04:00 remain</a:t>
            </a:r>
          </a:p>
        </p:txBody>
      </p:sp>
      <p:sp>
        <p:nvSpPr>
          <p:cNvPr id="5" name="">
            <a:extLst xmlns:a="http://schemas.openxmlformats.org/drawingml/2006/main">
              <a:ext uri="{FF2B5EF4-FFF2-40B4-BE49-F238E27FC236}">
                <a16:creationId xmlns:a16="http://schemas.microsoft.com/office/drawing/2014/main" id="{CFFF394A-C4E7-428F-8808-B9EFB409BB14}"/>
              </a:ext>
            </a:extLst>
          </p:cNvPr>
          <p:cNvSpPr>
            <a:spLocks xmlns:a="http://schemas.openxmlformats.org/drawingml/2006/main" noGrp="1"/>
          </p:cNvSpPr>
          <p:nvPr/>
        </p:nvSpPr>
        <p:spPr>
          <a:xfrm xmlns:a="http://schemas.openxmlformats.org/drawingml/2006/main">
            <a:off x="647700" y="3333750"/>
            <a:ext cx="10810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22C3A"/>
                </a:solidFill>
                <a:latin typeface="Arial"/>
                <a:ea typeface="Arial"/>
                <a:cs typeface="Arial"/>
              </a:defRPr>
            </a:pPr>
            <a:r>
              <a:rPr sz="2325" b="0">
                <a:solidFill>
                  <a:srgbClr val="122C3A"/>
                </a:solidFill>
                <a:latin typeface="Arial"/>
                <a:ea typeface="Arial"/>
                <a:cs typeface="Arial"/>
              </a:rPr>
              <a:t>Ridge minus persistence: −0.04364 EUR per retained source day</a:t>
            </a:r>
          </a:p>
        </p:txBody>
      </p:sp>
      <p:sp>
        <p:nvSpPr>
          <p:cNvPr id="6" name="">
            <a:extLst xmlns:a="http://schemas.openxmlformats.org/drawingml/2006/main">
              <a:ext uri="{FF2B5EF4-FFF2-40B4-BE49-F238E27FC236}">
                <a16:creationId xmlns:a16="http://schemas.microsoft.com/office/drawing/2014/main" id="{02B0D943-E0F5-461E-B772-10C29A12B3BC}"/>
              </a:ext>
            </a:extLst>
          </p:cNvPr>
          <p:cNvSpPr>
            <a:spLocks xmlns:a="http://schemas.openxmlformats.org/drawingml/2006/main" noGrp="1"/>
          </p:cNvSpPr>
          <p:nvPr/>
        </p:nvSpPr>
        <p:spPr>
          <a:xfrm xmlns:a="http://schemas.openxmlformats.org/drawingml/2006/main">
            <a:off x="647700" y="4152900"/>
            <a:ext cx="10810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22C3A"/>
                </a:solidFill>
                <a:latin typeface="Arial"/>
                <a:ea typeface="Arial"/>
                <a:cs typeface="Arial"/>
              </a:defRPr>
            </a:pPr>
            <a:r>
              <a:rPr sz="2325" b="0">
                <a:solidFill>
                  <a:srgbClr val="122C3A"/>
                </a:solidFill>
                <a:latin typeface="Arial"/>
                <a:ea typeface="Arial"/>
                <a:cs typeface="Arial"/>
              </a:rPr>
              <a:t>95% seven-day block interval: [−0.06889, −0.02127] EUR per day</a:t>
            </a:r>
          </a:p>
        </p:txBody>
      </p:sp>
      <p:sp>
        <p:nvSpPr>
          <p:cNvPr id="7" name="">
            <a:extLst xmlns:a="http://schemas.openxmlformats.org/drawingml/2006/main">
              <a:ext uri="{FF2B5EF4-FFF2-40B4-BE49-F238E27FC236}">
                <a16:creationId xmlns:a16="http://schemas.microsoft.com/office/drawing/2014/main" id="{577720F0-66A8-4DA1-BAF5-03571B9529F5}"/>
              </a:ext>
            </a:extLst>
          </p:cNvPr>
          <p:cNvSpPr>
            <a:spLocks xmlns:a="http://schemas.openxmlformats.org/drawingml/2006/main" noGrp="1"/>
          </p:cNvSpPr>
          <p:nvPr/>
        </p:nvSpPr>
        <p:spPr>
          <a:xfrm xmlns:a="http://schemas.openxmlformats.org/drawingml/2006/main">
            <a:off x="647700" y="5695950"/>
            <a:ext cx="10525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36B"/>
                </a:solidFill>
                <a:latin typeface="Arial"/>
                <a:ea typeface="Arial"/>
                <a:cs typeface="Arial"/>
              </a:defRPr>
            </a:pPr>
            <a:r>
              <a:rPr sz="1650" b="0">
                <a:solidFill>
                  <a:srgbClr val="52636B"/>
                </a:solidFill>
                <a:latin typeface="Arial"/>
                <a:ea typeface="Arial"/>
                <a:cs typeface="Arial"/>
              </a:rPr>
              <a:t>Conditional exploratory inference. Prior access and incomplete coverage limit the claim.</a:t>
            </a:r>
          </a:p>
        </p:txBody>
      </p:sp>
    </p:spTree>
    <p:extLst>
      <p:ext uri="{BB962C8B-B14F-4D97-AF65-F5344CB8AC3E}">
        <p14:creationId xmlns:p14="http://schemas.microsoft.com/office/powerpoint/2010/main" val="153208689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2026-09-29T16:52:44.1270000Z</dcterms:created>
  <dcterms:modified xsi:type="dcterms:W3CDTF">2026-09-29T16:52:44.1270000Z</dcterms:modified>
</coreProperties>
</file>